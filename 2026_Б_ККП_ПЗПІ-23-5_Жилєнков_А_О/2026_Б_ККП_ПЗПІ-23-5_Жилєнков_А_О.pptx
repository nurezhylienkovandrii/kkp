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embeddedFontLst>
    <p:embeddedFont>
      <p:font typeface="Arimo"/>
      <p:regular r:id="rId18"/>
      <p:bold r:id="rId19"/>
      <p:italic r:id="rId20"/>
      <p:boldItalic r:id="rId21"/>
    </p:embeddedFont>
    <p:embeddedFont>
      <p:font typeface="Nunito"/>
      <p:regular r:id="rId22"/>
      <p:bold r:id="rId23"/>
      <p:italic r:id="rId24"/>
      <p:boldItalic r:id="rId25"/>
    </p:embeddedFont>
    <p:embeddedFont>
      <p:font typeface="Syne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italic.fntdata"/><Relationship Id="rId22" Type="http://schemas.openxmlformats.org/officeDocument/2006/relationships/font" Target="fonts/Nunito-regular.fntdata"/><Relationship Id="rId21" Type="http://schemas.openxmlformats.org/officeDocument/2006/relationships/font" Target="fonts/Arimo-boldItalic.fntdata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Syne-bold.fntdata"/><Relationship Id="rId25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Arimo-bold.fntdata"/><Relationship Id="rId18" Type="http://schemas.openxmlformats.org/officeDocument/2006/relationships/font" Target="fonts/Arim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" name="Google Shape;13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e735d77b07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e735d77b07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e735d77b07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e735d77b07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e735d77b07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g3e735d77b07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4" name="Google Shape;36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.png"/><Relationship Id="rId6" Type="http://schemas.openxmlformats.org/officeDocument/2006/relationships/image" Target="../media/image11.png"/><Relationship Id="rId7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8" name="Google Shape;3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3429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14"/>
          <p:cNvSpPr/>
          <p:nvPr/>
        </p:nvSpPr>
        <p:spPr>
          <a:xfrm>
            <a:off x="3952577" y="839912"/>
            <a:ext cx="4667845" cy="15397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Syne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Програмна система контролю якості виробництва лінз за зображенням їх поверхні</a:t>
            </a:r>
            <a:endParaRPr b="0" i="0" sz="2400" u="none" cap="none" strike="noStrike"/>
          </a:p>
        </p:txBody>
      </p:sp>
      <p:sp>
        <p:nvSpPr>
          <p:cNvPr id="40" name="Google Shape;40;p14"/>
          <p:cNvSpPr/>
          <p:nvPr/>
        </p:nvSpPr>
        <p:spPr>
          <a:xfrm>
            <a:off x="3952575" y="2693800"/>
            <a:ext cx="2873100" cy="21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Комплексний курсовий проєкт</a:t>
            </a:r>
            <a:endParaRPr b="0" i="0" sz="1000" u="none" cap="none" strike="noStrike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t/>
            </a:r>
            <a:endParaRPr sz="1000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Студент:</a:t>
            </a:r>
            <a:endParaRPr sz="1000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Жилєнков Андрій Олександрович</a:t>
            </a:r>
            <a:endParaRPr b="0" i="0" sz="1000" u="none" cap="none" strike="noStrike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Група:</a:t>
            </a: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ПЗПІ-23-5</a:t>
            </a:r>
            <a:endParaRPr b="0" i="0" sz="1000" u="none" cap="none" strike="noStrike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t/>
            </a:r>
            <a:endParaRPr sz="1000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rPr b="1" lang="en-US" sz="1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Науковий к</a:t>
            </a: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ерівник:</a:t>
            </a:r>
            <a:endParaRPr sz="1000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доц.</a:t>
            </a:r>
            <a:r>
              <a:rPr lang="en-US" sz="1000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, к.т.н.</a:t>
            </a: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Работягов Андрій Валентинович</a:t>
            </a:r>
            <a:endParaRPr b="0" i="0" sz="1000" u="none" cap="none" strike="noStrike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t/>
            </a:r>
            <a:endParaRPr sz="1000">
              <a:solidFill>
                <a:srgbClr val="D9E1FF"/>
              </a:solidFill>
              <a:latin typeface="Arimo"/>
              <a:ea typeface="Arimo"/>
              <a:cs typeface="Arimo"/>
              <a:sym typeface="Arim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90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2026</a:t>
            </a:r>
            <a:endParaRPr b="0" i="0" sz="1000" u="none" cap="none" strike="noStrike"/>
          </a:p>
        </p:txBody>
      </p:sp>
      <p:sp>
        <p:nvSpPr>
          <p:cNvPr id="41" name="Google Shape;41;p14"/>
          <p:cNvSpPr/>
          <p:nvPr/>
        </p:nvSpPr>
        <p:spPr>
          <a:xfrm>
            <a:off x="7091725" y="2693800"/>
            <a:ext cx="1038600" cy="246000"/>
          </a:xfrm>
          <a:prstGeom prst="roundRect">
            <a:avLst>
              <a:gd fmla="val 6388" name="adj"/>
            </a:avLst>
          </a:prstGeom>
          <a:solidFill>
            <a:srgbClr val="0F0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4"/>
          <p:cNvSpPr/>
          <p:nvPr/>
        </p:nvSpPr>
        <p:spPr>
          <a:xfrm>
            <a:off x="7163229" y="2733016"/>
            <a:ext cx="13116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COMPUTER VISION</a:t>
            </a:r>
            <a:endParaRPr b="0" i="0" sz="800" u="none" cap="none" strike="noStrike"/>
          </a:p>
        </p:txBody>
      </p:sp>
      <p:sp>
        <p:nvSpPr>
          <p:cNvPr id="43" name="Google Shape;43;p14"/>
          <p:cNvSpPr/>
          <p:nvPr/>
        </p:nvSpPr>
        <p:spPr>
          <a:xfrm>
            <a:off x="7091725" y="3131825"/>
            <a:ext cx="832800" cy="255600"/>
          </a:xfrm>
          <a:prstGeom prst="roundRect">
            <a:avLst>
              <a:gd fmla="val 6149" name="adj"/>
            </a:avLst>
          </a:prstGeom>
          <a:noFill/>
          <a:ln cap="flat" cmpd="sng" w="9525">
            <a:solidFill>
              <a:srgbClr val="80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4"/>
          <p:cNvSpPr/>
          <p:nvPr/>
        </p:nvSpPr>
        <p:spPr>
          <a:xfrm>
            <a:off x="7167566" y="3175793"/>
            <a:ext cx="10596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806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INDUSTRY 4.0</a:t>
            </a:r>
            <a:endParaRPr b="0" i="0" sz="800" u="none" cap="none" strike="noStrike"/>
          </a:p>
        </p:txBody>
      </p:sp>
      <p:sp>
        <p:nvSpPr>
          <p:cNvPr id="45" name="Google Shape;45;p14"/>
          <p:cNvSpPr/>
          <p:nvPr/>
        </p:nvSpPr>
        <p:spPr>
          <a:xfrm>
            <a:off x="7091725" y="3579425"/>
            <a:ext cx="1602900" cy="255600"/>
          </a:xfrm>
          <a:prstGeom prst="roundRect">
            <a:avLst>
              <a:gd fmla="val 6149" name="adj"/>
            </a:avLst>
          </a:prstGeom>
          <a:noFill/>
          <a:ln cap="flat" cmpd="sng" w="9525">
            <a:solidFill>
              <a:srgbClr val="8061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14"/>
          <p:cNvSpPr/>
          <p:nvPr/>
        </p:nvSpPr>
        <p:spPr>
          <a:xfrm>
            <a:off x="7167566" y="3623406"/>
            <a:ext cx="1788600" cy="1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806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8061FF"/>
                </a:solidFill>
                <a:latin typeface="Arimo"/>
                <a:ea typeface="Arimo"/>
                <a:cs typeface="Arimo"/>
                <a:sym typeface="Arimo"/>
              </a:rPr>
              <a:t>OPENCV · PYTHON · PYSIDE6</a:t>
            </a:r>
            <a:endParaRPr b="0" i="0" sz="800" u="none" cap="none" strike="noStrike"/>
          </a:p>
        </p:txBody>
      </p:sp>
      <p:sp>
        <p:nvSpPr>
          <p:cNvPr id="47" name="Google Shape;47;p14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5"/>
          <p:cNvSpPr/>
          <p:nvPr/>
        </p:nvSpPr>
        <p:spPr>
          <a:xfrm>
            <a:off x="523577" y="521271"/>
            <a:ext cx="3916487" cy="327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Syne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Аналіз предметної галузі</a:t>
            </a:r>
            <a:endParaRPr b="0" i="0" sz="2050" u="none" cap="none" strike="noStrike"/>
          </a:p>
        </p:txBody>
      </p:sp>
      <p:sp>
        <p:nvSpPr>
          <p:cNvPr id="54" name="Google Shape;54;p15"/>
          <p:cNvSpPr/>
          <p:nvPr/>
        </p:nvSpPr>
        <p:spPr>
          <a:xfrm>
            <a:off x="523577" y="1084883"/>
            <a:ext cx="3174802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Актуальність та роль лінз у технологіях</a:t>
            </a:r>
            <a:endParaRPr b="0" i="0" sz="1000" u="none" cap="none" strike="noStrike"/>
          </a:p>
        </p:txBody>
      </p:sp>
      <p:sp>
        <p:nvSpPr>
          <p:cNvPr id="55" name="Google Shape;55;p15"/>
          <p:cNvSpPr/>
          <p:nvPr/>
        </p:nvSpPr>
        <p:spPr>
          <a:xfrm>
            <a:off x="523577" y="1343025"/>
            <a:ext cx="3912691" cy="12372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Сучасне виробництво вимагає надзвичайно високої точності та стабільного контролю якості. Особливо це критично у сфері оптичних виробів: навіть </a:t>
            </a: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мікродефекти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поверхні лінзи суттєво впливають на якість зображення, точність фокусування та оптичні спотворення кінцевого пристрою.</a:t>
            </a:r>
            <a:endParaRPr b="0" i="0" sz="850" u="none" cap="none" strike="noStrike"/>
          </a:p>
          <a:p>
            <a:pPr indent="0" lvl="0" marL="0" marR="0" rtl="0" algn="l">
              <a:lnSpc>
                <a:spcPct val="123000"/>
              </a:lnSpc>
              <a:spcBef>
                <a:spcPts val="65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Оптичні лінзи є ключовими компонентами широкого спектру сучасних технологій:</a:t>
            </a:r>
            <a:endParaRPr b="0" i="0" sz="850" u="none" cap="none" strike="noStrike"/>
          </a:p>
        </p:txBody>
      </p:sp>
      <p:sp>
        <p:nvSpPr>
          <p:cNvPr id="56" name="Google Shape;56;p15"/>
          <p:cNvSpPr/>
          <p:nvPr/>
        </p:nvSpPr>
        <p:spPr>
          <a:xfrm>
            <a:off x="523577" y="2665363"/>
            <a:ext cx="3912691" cy="757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Фото- та відеотехніка, смартфони та камери спостереження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Медичні прилади та діагностичне обладнання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Мікроскопи, телескопи та наукові інструменти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Лазерні системи та промислові установки</a:t>
            </a:r>
            <a:endParaRPr b="0" i="0" sz="850" u="none" cap="none" strike="noStrike"/>
          </a:p>
        </p:txBody>
      </p:sp>
      <p:sp>
        <p:nvSpPr>
          <p:cNvPr id="57" name="Google Shape;57;p15"/>
          <p:cNvSpPr/>
          <p:nvPr/>
        </p:nvSpPr>
        <p:spPr>
          <a:xfrm>
            <a:off x="523577" y="3517478"/>
            <a:ext cx="3276377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Проблема дефектів оптичних поверхонь</a:t>
            </a:r>
            <a:endParaRPr b="0" i="0" sz="1000" u="none" cap="none" strike="noStrike"/>
          </a:p>
        </p:txBody>
      </p:sp>
      <p:sp>
        <p:nvSpPr>
          <p:cNvPr id="58" name="Google Shape;58;p15"/>
          <p:cNvSpPr/>
          <p:nvPr/>
        </p:nvSpPr>
        <p:spPr>
          <a:xfrm>
            <a:off x="523577" y="3775621"/>
            <a:ext cx="3912691" cy="6584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Основні типи дефектів, що виявляються на поверхні лінз: </a:t>
            </a: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подряпини, тріщини, сколи, потертості, мікродефекти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 Навіть незначні пошкодження здатні погіршити оптичні характеристики виробу, викликати спотворення зображення та знизити загальну якість продукції до неприйнятного рівня.</a:t>
            </a:r>
            <a:endParaRPr b="0" i="0" sz="850" u="none" cap="none" strike="noStrike"/>
          </a:p>
        </p:txBody>
      </p:sp>
      <p:sp>
        <p:nvSpPr>
          <p:cNvPr id="59" name="Google Shape;59;p15"/>
          <p:cNvSpPr/>
          <p:nvPr/>
        </p:nvSpPr>
        <p:spPr>
          <a:xfrm>
            <a:off x="4632350" y="990302"/>
            <a:ext cx="4072979" cy="3631853"/>
          </a:xfrm>
          <a:prstGeom prst="roundRect">
            <a:avLst>
              <a:gd fmla="val 46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5"/>
          <p:cNvSpPr/>
          <p:nvPr/>
        </p:nvSpPr>
        <p:spPr>
          <a:xfrm>
            <a:off x="4743599" y="1084883"/>
            <a:ext cx="2519363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Складність ручного контролю</a:t>
            </a:r>
            <a:endParaRPr b="0" i="0" sz="1000" u="none" cap="none" strike="noStrike"/>
          </a:p>
        </p:txBody>
      </p:sp>
      <p:sp>
        <p:nvSpPr>
          <p:cNvPr id="61" name="Google Shape;61;p15"/>
          <p:cNvSpPr/>
          <p:nvPr/>
        </p:nvSpPr>
        <p:spPr>
          <a:xfrm>
            <a:off x="4743599" y="1343025"/>
            <a:ext cx="3850481" cy="82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Прозора поверхня лінзи створює відблиски та паразитні відбиття. Мікродефекти надзвичайно складно виявити візуально. Ручний контроль залежить від </a:t>
            </a: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досвіду оператора, рівня втоми та умов освітлення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що призводить до низької стабільності результатів при великих обсягах виробництва.</a:t>
            </a:r>
            <a:endParaRPr b="0" i="0" sz="850" u="none" cap="none" strike="noStrike"/>
          </a:p>
        </p:txBody>
      </p:sp>
      <p:sp>
        <p:nvSpPr>
          <p:cNvPr id="62" name="Google Shape;62;p15"/>
          <p:cNvSpPr/>
          <p:nvPr/>
        </p:nvSpPr>
        <p:spPr>
          <a:xfrm>
            <a:off x="4743599" y="2260625"/>
            <a:ext cx="2217613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Перехід до автоматизації</a:t>
            </a:r>
            <a:endParaRPr b="0" i="0" sz="1000" u="none" cap="none" strike="noStrike"/>
          </a:p>
        </p:txBody>
      </p:sp>
      <p:sp>
        <p:nvSpPr>
          <p:cNvPr id="63" name="Google Shape;63;p15"/>
          <p:cNvSpPr/>
          <p:nvPr/>
        </p:nvSpPr>
        <p:spPr>
          <a:xfrm>
            <a:off x="4743599" y="2518767"/>
            <a:ext cx="3850481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Комп'ютерний зір та цифрова обробка зображень дозволяють усунути людський фактор. Переваги автоматизованих систем:</a:t>
            </a:r>
            <a:endParaRPr b="0" i="0" sz="850" u="none" cap="none" strike="noStrike"/>
          </a:p>
        </p:txBody>
      </p:sp>
      <p:sp>
        <p:nvSpPr>
          <p:cNvPr id="64" name="Google Shape;64;p15"/>
          <p:cNvSpPr/>
          <p:nvPr/>
        </p:nvSpPr>
        <p:spPr>
          <a:xfrm>
            <a:off x="4743599" y="2933030"/>
            <a:ext cx="3850481" cy="757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Стабільність та повторюваність аналізу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Висока швидкість обробки (тисячі виробів/день)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Безперервна робота в режимі 24/7</a:t>
            </a:r>
            <a:endParaRPr b="0" i="0" sz="850" u="none" cap="none" strike="noStrike"/>
          </a:p>
          <a:p>
            <a:pPr indent="-342900" lvl="0" marL="3429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Char char="•"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Мінімізація людського фактора</a:t>
            </a:r>
            <a:endParaRPr b="0" i="0" sz="850" u="none" cap="none" strike="noStrike"/>
          </a:p>
        </p:txBody>
      </p:sp>
      <p:sp>
        <p:nvSpPr>
          <p:cNvPr id="65" name="Google Shape;65;p15"/>
          <p:cNvSpPr/>
          <p:nvPr/>
        </p:nvSpPr>
        <p:spPr>
          <a:xfrm>
            <a:off x="4743599" y="3785146"/>
            <a:ext cx="1863403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Вимоги Industry 4.0</a:t>
            </a:r>
            <a:endParaRPr b="0" i="0" sz="1000" u="none" cap="none" strike="noStrike"/>
          </a:p>
        </p:txBody>
      </p:sp>
      <p:sp>
        <p:nvSpPr>
          <p:cNvPr id="66" name="Google Shape;66;p15"/>
          <p:cNvSpPr/>
          <p:nvPr/>
        </p:nvSpPr>
        <p:spPr>
          <a:xfrm>
            <a:off x="4743599" y="4043288"/>
            <a:ext cx="3850481" cy="493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Сучасні виробничі системи вимагають: роботи в реальному часі, автоматичного виявлення та класифікації дефектів, сегментації об'єкта, формування звітності та повної інтеграції у виробничі процеси.</a:t>
            </a:r>
            <a:endParaRPr b="0" i="0" sz="850" u="none" cap="none" strike="noStrike"/>
          </a:p>
        </p:txBody>
      </p:sp>
      <p:sp>
        <p:nvSpPr>
          <p:cNvPr id="67" name="Google Shape;67;p15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/>
        </p:nvSpPr>
        <p:spPr>
          <a:xfrm>
            <a:off x="523577" y="608112"/>
            <a:ext cx="5841057" cy="26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Syne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Проблеми предметної галузі та аналіз аналогів</a:t>
            </a:r>
            <a:endParaRPr b="0" i="0" sz="1650" u="none" cap="none" strike="noStrike"/>
          </a:p>
        </p:txBody>
      </p:sp>
      <p:sp>
        <p:nvSpPr>
          <p:cNvPr id="74" name="Google Shape;74;p16"/>
          <p:cNvSpPr/>
          <p:nvPr/>
        </p:nvSpPr>
        <p:spPr>
          <a:xfrm>
            <a:off x="523577" y="1038002"/>
            <a:ext cx="2821632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8061FF"/>
                </a:solidFill>
                <a:latin typeface="Syne"/>
                <a:ea typeface="Syne"/>
                <a:cs typeface="Syne"/>
                <a:sym typeface="Syne"/>
              </a:rPr>
              <a:t>Проблеми існуючих методів контролю</a:t>
            </a:r>
            <a:endParaRPr b="0" i="0" sz="800" u="none" cap="none" strike="noStrike"/>
          </a:p>
        </p:txBody>
      </p:sp>
      <p:sp>
        <p:nvSpPr>
          <p:cNvPr id="75" name="Google Shape;75;p16"/>
          <p:cNvSpPr/>
          <p:nvPr/>
        </p:nvSpPr>
        <p:spPr>
          <a:xfrm>
            <a:off x="523577" y="1244873"/>
            <a:ext cx="1852985" cy="1158776"/>
          </a:xfrm>
          <a:prstGeom prst="roundRect">
            <a:avLst>
              <a:gd fmla="val 3946" name="adj"/>
            </a:avLst>
          </a:prstGeom>
          <a:solidFill>
            <a:srgbClr val="0C0A33"/>
          </a:solidFill>
          <a:ln cap="flat" cmpd="sng" w="952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514052" y="1244873"/>
            <a:ext cx="38100" cy="1158776"/>
          </a:xfrm>
          <a:prstGeom prst="roundRect">
            <a:avLst>
              <a:gd fmla="val 36078" name="adj"/>
            </a:avLst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6"/>
          <p:cNvSpPr/>
          <p:nvPr/>
        </p:nvSpPr>
        <p:spPr>
          <a:xfrm>
            <a:off x="653281" y="1346002"/>
            <a:ext cx="1078037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Людський фактор</a:t>
            </a:r>
            <a:endParaRPr b="0" i="0" sz="800" u="none" cap="none" strike="noStrike"/>
          </a:p>
        </p:txBody>
      </p:sp>
      <p:sp>
        <p:nvSpPr>
          <p:cNvPr id="78" name="Google Shape;78;p16"/>
          <p:cNvSpPr/>
          <p:nvPr/>
        </p:nvSpPr>
        <p:spPr>
          <a:xfrm>
            <a:off x="653281" y="1544910"/>
            <a:ext cx="1622152" cy="622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None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Ручний контроль — основний метод на більшості підприємств. Висока суб'єктивність, втома оператора, помилки при тривалій роботі знижують стабільність результатів.</a:t>
            </a:r>
            <a:endParaRPr b="0" i="0" sz="700" u="none" cap="none" strike="noStrike"/>
          </a:p>
        </p:txBody>
      </p:sp>
      <p:sp>
        <p:nvSpPr>
          <p:cNvPr id="79" name="Google Shape;79;p16"/>
          <p:cNvSpPr/>
          <p:nvPr/>
        </p:nvSpPr>
        <p:spPr>
          <a:xfrm>
            <a:off x="2440707" y="1244873"/>
            <a:ext cx="1853059" cy="1158776"/>
          </a:xfrm>
          <a:prstGeom prst="roundRect">
            <a:avLst>
              <a:gd fmla="val 3946" name="adj"/>
            </a:avLst>
          </a:prstGeom>
          <a:solidFill>
            <a:srgbClr val="0C0A33"/>
          </a:solidFill>
          <a:ln cap="flat" cmpd="sng" w="952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6"/>
          <p:cNvSpPr/>
          <p:nvPr/>
        </p:nvSpPr>
        <p:spPr>
          <a:xfrm>
            <a:off x="2431182" y="1244873"/>
            <a:ext cx="38100" cy="1158776"/>
          </a:xfrm>
          <a:prstGeom prst="roundRect">
            <a:avLst>
              <a:gd fmla="val 36078" name="adj"/>
            </a:avLst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6"/>
          <p:cNvSpPr/>
          <p:nvPr/>
        </p:nvSpPr>
        <p:spPr>
          <a:xfrm>
            <a:off x="2570411" y="1346002"/>
            <a:ext cx="1622227" cy="2695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Складність виявлення мікродефектів</a:t>
            </a:r>
            <a:endParaRPr b="0" i="0" sz="800" u="none" cap="none" strike="noStrike"/>
          </a:p>
        </p:txBody>
      </p:sp>
      <p:sp>
        <p:nvSpPr>
          <p:cNvPr id="82" name="Google Shape;82;p16"/>
          <p:cNvSpPr/>
          <p:nvPr/>
        </p:nvSpPr>
        <p:spPr>
          <a:xfrm>
            <a:off x="2570411" y="1679674"/>
            <a:ext cx="1622227" cy="622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None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Подряпини, тріщини, плями важко виявити через відблиски та нерівномірне освітлення оптичних поверхонь. Точність залежить від досвіду інспектора.</a:t>
            </a:r>
            <a:endParaRPr b="0" i="0" sz="700" u="none" cap="none" strike="noStrike"/>
          </a:p>
        </p:txBody>
      </p:sp>
      <p:sp>
        <p:nvSpPr>
          <p:cNvPr id="83" name="Google Shape;83;p16"/>
          <p:cNvSpPr/>
          <p:nvPr/>
        </p:nvSpPr>
        <p:spPr>
          <a:xfrm>
            <a:off x="523577" y="2467794"/>
            <a:ext cx="1852985" cy="1148581"/>
          </a:xfrm>
          <a:prstGeom prst="roundRect">
            <a:avLst>
              <a:gd fmla="val 3981" name="adj"/>
            </a:avLst>
          </a:prstGeom>
          <a:solidFill>
            <a:srgbClr val="0C0A33"/>
          </a:solidFill>
          <a:ln cap="flat" cmpd="sng" w="952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/>
          <p:nvPr/>
        </p:nvSpPr>
        <p:spPr>
          <a:xfrm>
            <a:off x="514052" y="2467794"/>
            <a:ext cx="38100" cy="1148581"/>
          </a:xfrm>
          <a:prstGeom prst="roundRect">
            <a:avLst>
              <a:gd fmla="val 36078" name="adj"/>
            </a:avLst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6"/>
          <p:cNvSpPr/>
          <p:nvPr/>
        </p:nvSpPr>
        <p:spPr>
          <a:xfrm>
            <a:off x="653281" y="2568922"/>
            <a:ext cx="1338858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Низька продуктивність</a:t>
            </a:r>
            <a:endParaRPr b="0" i="0" sz="800" u="none" cap="none" strike="noStrike"/>
          </a:p>
        </p:txBody>
      </p:sp>
      <p:sp>
        <p:nvSpPr>
          <p:cNvPr id="86" name="Google Shape;86;p16"/>
          <p:cNvSpPr/>
          <p:nvPr/>
        </p:nvSpPr>
        <p:spPr>
          <a:xfrm>
            <a:off x="653281" y="2767831"/>
            <a:ext cx="1622152" cy="7474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None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При масовому виробництві (тисячі виробів/день) ручний контроль стає вузьким місцем. Відсутній безперервний 24/7 режим та автоматичне сортування «придатні / браковані».</a:t>
            </a:r>
            <a:endParaRPr b="0" i="0" sz="700" u="none" cap="none" strike="noStrike"/>
          </a:p>
        </p:txBody>
      </p:sp>
      <p:sp>
        <p:nvSpPr>
          <p:cNvPr id="87" name="Google Shape;87;p16"/>
          <p:cNvSpPr/>
          <p:nvPr/>
        </p:nvSpPr>
        <p:spPr>
          <a:xfrm>
            <a:off x="2440707" y="2467794"/>
            <a:ext cx="1853059" cy="1148581"/>
          </a:xfrm>
          <a:prstGeom prst="roundRect">
            <a:avLst>
              <a:gd fmla="val 3981" name="adj"/>
            </a:avLst>
          </a:prstGeom>
          <a:solidFill>
            <a:srgbClr val="0C0A33"/>
          </a:solidFill>
          <a:ln cap="flat" cmpd="sng" w="952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6"/>
          <p:cNvSpPr/>
          <p:nvPr/>
        </p:nvSpPr>
        <p:spPr>
          <a:xfrm>
            <a:off x="2431182" y="2467794"/>
            <a:ext cx="38100" cy="1148581"/>
          </a:xfrm>
          <a:prstGeom prst="roundRect">
            <a:avLst>
              <a:gd fmla="val 36078" name="adj"/>
            </a:avLst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/>
          <p:nvPr/>
        </p:nvSpPr>
        <p:spPr>
          <a:xfrm>
            <a:off x="2570411" y="2568922"/>
            <a:ext cx="1249933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Відсутність аналітики</a:t>
            </a:r>
            <a:endParaRPr b="0" i="0" sz="800" u="none" cap="none" strike="noStrike"/>
          </a:p>
        </p:txBody>
      </p:sp>
      <p:sp>
        <p:nvSpPr>
          <p:cNvPr id="90" name="Google Shape;90;p16"/>
          <p:cNvSpPr/>
          <p:nvPr/>
        </p:nvSpPr>
        <p:spPr>
          <a:xfrm>
            <a:off x="2570411" y="2767831"/>
            <a:ext cx="1622227" cy="62284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None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Немає системного збереження результатів, аналітики браку, звітності. Висока ціна помилки контролю тягне фінансові та технічні наслідки.</a:t>
            </a:r>
            <a:endParaRPr b="0" i="0" sz="700" u="none" cap="none" strike="noStrike"/>
          </a:p>
        </p:txBody>
      </p:sp>
      <p:sp>
        <p:nvSpPr>
          <p:cNvPr id="91" name="Google Shape;91;p16"/>
          <p:cNvSpPr/>
          <p:nvPr/>
        </p:nvSpPr>
        <p:spPr>
          <a:xfrm>
            <a:off x="4522068" y="1038002"/>
            <a:ext cx="2692971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8061FF"/>
                </a:solidFill>
                <a:latin typeface="Syne"/>
                <a:ea typeface="Syne"/>
                <a:cs typeface="Syne"/>
                <a:sym typeface="Syne"/>
              </a:rPr>
              <a:t>Аналіз існуючих програмних рішень</a:t>
            </a:r>
            <a:endParaRPr b="0" i="0" sz="800" u="none" cap="none" strike="noStrike"/>
          </a:p>
        </p:txBody>
      </p:sp>
      <p:sp>
        <p:nvSpPr>
          <p:cNvPr id="92" name="Google Shape;92;p16"/>
          <p:cNvSpPr/>
          <p:nvPr/>
        </p:nvSpPr>
        <p:spPr>
          <a:xfrm>
            <a:off x="4522068" y="1244873"/>
            <a:ext cx="2019449" cy="1570434"/>
          </a:xfrm>
          <a:prstGeom prst="roundRect">
            <a:avLst>
              <a:gd fmla="val 875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/>
          <p:nvPr/>
        </p:nvSpPr>
        <p:spPr>
          <a:xfrm>
            <a:off x="4613672" y="1336477"/>
            <a:ext cx="1382911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Промислові системи CV</a:t>
            </a:r>
            <a:endParaRPr b="0" i="0" sz="80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4613672" y="1535385"/>
            <a:ext cx="1836241" cy="11883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1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Cognex</a:t>
            </a: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висока точність, промисловий рівень, але дуже висока вартість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1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Keyence</a:t>
            </a: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прості готові рішення, обмежена гнучкість налаштувань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1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Omron</a:t>
            </a: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інтеграція з виробництвом, складна конфігурація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1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Basler</a:t>
            </a: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орієнтація на камери, потребує власної логіки</a:t>
            </a:r>
            <a:endParaRPr b="0" i="0" sz="70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6605662" y="1244873"/>
            <a:ext cx="2019449" cy="1570434"/>
          </a:xfrm>
          <a:prstGeom prst="roundRect">
            <a:avLst>
              <a:gd fmla="val 875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/>
          <p:nvPr/>
        </p:nvSpPr>
        <p:spPr>
          <a:xfrm>
            <a:off x="6697266" y="1336477"/>
            <a:ext cx="1751484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AI / Deep Learning системи</a:t>
            </a:r>
            <a:endParaRPr b="0" i="0" sz="800" u="none" cap="none" strike="noStrike"/>
          </a:p>
        </p:txBody>
      </p:sp>
      <p:sp>
        <p:nvSpPr>
          <p:cNvPr id="97" name="Google Shape;97;p16"/>
          <p:cNvSpPr/>
          <p:nvPr/>
        </p:nvSpPr>
        <p:spPr>
          <a:xfrm>
            <a:off x="6697266" y="1535385"/>
            <a:ext cx="1836241" cy="8146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Висока точність у складних задачах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Виявляють нетипові дефекти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Потребують великих датасетів, обчислювальних ресурсів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Складні у впровадженні для малих підприємств</a:t>
            </a:r>
            <a:endParaRPr b="0" i="0" sz="700" u="none" cap="none" strike="noStrike"/>
          </a:p>
        </p:txBody>
      </p:sp>
      <p:sp>
        <p:nvSpPr>
          <p:cNvPr id="98" name="Google Shape;98;p16"/>
          <p:cNvSpPr/>
          <p:nvPr/>
        </p:nvSpPr>
        <p:spPr>
          <a:xfrm>
            <a:off x="4522068" y="2879452"/>
            <a:ext cx="4103043" cy="947589"/>
          </a:xfrm>
          <a:prstGeom prst="roundRect">
            <a:avLst>
              <a:gd fmla="val 1451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6"/>
          <p:cNvSpPr/>
          <p:nvPr/>
        </p:nvSpPr>
        <p:spPr>
          <a:xfrm>
            <a:off x="4613672" y="2971056"/>
            <a:ext cx="1562249" cy="1347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Syne"/>
              <a:buNone/>
            </a:pPr>
            <a:r>
              <a:rPr b="1" i="0" lang="en-US" sz="800" u="none" cap="none" strike="noStrike">
                <a:solidFill>
                  <a:srgbClr val="000000"/>
                </a:solidFill>
                <a:latin typeface="Syne"/>
                <a:ea typeface="Syne"/>
                <a:cs typeface="Syne"/>
                <a:sym typeface="Syne"/>
              </a:rPr>
              <a:t>🧩</a:t>
            </a:r>
            <a:r>
              <a:rPr b="1" i="0" lang="en-US" sz="8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 Бібліотеки CV (OpenCV)</a:t>
            </a:r>
            <a:endParaRPr b="0" i="0" sz="80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4613672" y="3169965"/>
            <a:ext cx="3919835" cy="5654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Потужний інструмент для обробки зображень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Дає алгоритми фільтрації, контурів, геометрії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1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Не є готовою системою</a:t>
            </a: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контролю якості</a:t>
            </a:r>
            <a:endParaRPr b="0" i="0" sz="700" u="none" cap="none" strike="noStrike"/>
          </a:p>
          <a:p>
            <a:pPr indent="-342900" lvl="0" marL="34290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00"/>
              <a:buFont typeface="Arimo"/>
              <a:buChar char="•"/>
            </a:pPr>
            <a:r>
              <a:rPr b="0" i="0" lang="en-US" sz="7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Потребує розробки інтерфейсу та бізнес-логіки</a:t>
            </a:r>
            <a:endParaRPr b="0" i="0" sz="700" u="none" cap="none" strike="noStrike"/>
          </a:p>
        </p:txBody>
      </p:sp>
      <p:sp>
        <p:nvSpPr>
          <p:cNvPr id="101" name="Google Shape;101;p16"/>
          <p:cNvSpPr/>
          <p:nvPr/>
        </p:nvSpPr>
        <p:spPr>
          <a:xfrm>
            <a:off x="4522068" y="3899148"/>
            <a:ext cx="4103043" cy="564133"/>
          </a:xfrm>
          <a:prstGeom prst="roundRect">
            <a:avLst>
              <a:gd fmla="val 2437" name="adj"/>
            </a:avLst>
          </a:prstGeom>
          <a:solidFill>
            <a:srgbClr val="4B3F0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2" name="Google Shape;10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3672" y="4023866"/>
            <a:ext cx="114523" cy="91604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6"/>
          <p:cNvSpPr/>
          <p:nvPr/>
        </p:nvSpPr>
        <p:spPr>
          <a:xfrm>
            <a:off x="4819799" y="3986138"/>
            <a:ext cx="3713708" cy="3737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Arimo"/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Висновок:</a:t>
            </a:r>
            <a:r>
              <a:rPr b="0" i="0" lang="en-US" sz="7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Існуючі рішення орієнтовані або на великі підприємства, або потребують складної розробки. Відсутні доступні, прості та гнучкі системи для малих і середніх виробництв на основі комп'ютерного зору.</a:t>
            </a:r>
            <a:endParaRPr b="0" i="0" sz="700" u="none" cap="none" strike="noStrike"/>
          </a:p>
        </p:txBody>
      </p:sp>
      <p:sp>
        <p:nvSpPr>
          <p:cNvPr id="104" name="Google Shape;104;p16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/>
          <p:nvPr/>
        </p:nvSpPr>
        <p:spPr>
          <a:xfrm>
            <a:off x="523577" y="477143"/>
            <a:ext cx="2767385" cy="2888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Syne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Постановка задачі</a:t>
            </a:r>
            <a:endParaRPr b="0" i="0" sz="1800" u="none" cap="none" strike="noStrike"/>
          </a:p>
        </p:txBody>
      </p:sp>
      <p:sp>
        <p:nvSpPr>
          <p:cNvPr id="111" name="Google Shape;111;p17"/>
          <p:cNvSpPr/>
          <p:nvPr/>
        </p:nvSpPr>
        <p:spPr>
          <a:xfrm>
            <a:off x="523577" y="949970"/>
            <a:ext cx="1678186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yn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Актуальність задачі</a:t>
            </a:r>
            <a:endParaRPr b="0" i="0" sz="900" u="none" cap="none" strike="noStrike"/>
          </a:p>
        </p:txBody>
      </p:sp>
      <p:sp>
        <p:nvSpPr>
          <p:cNvPr id="112" name="Google Shape;112;p17"/>
          <p:cNvSpPr/>
          <p:nvPr/>
        </p:nvSpPr>
        <p:spPr>
          <a:xfrm>
            <a:off x="523577" y="1167929"/>
            <a:ext cx="3261717" cy="824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Контроль якості оптичних лінз є </a:t>
            </a:r>
            <a:r>
              <a:rPr b="1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критично важливим</a:t>
            </a: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у сучасній промисловості. Навіть мікродефекти — подряпини, тріщини, сколи — суттєво впливають на якість оптики. Ручний контроль є ненадійним через людський фактор, а існуючі автоматизовані системи не відповідають вимогам малих і середніх виробництв за критеріями доступності та гнучкості.</a:t>
            </a:r>
            <a:endParaRPr b="0" i="0" sz="750" u="none" cap="none" strike="noStrike"/>
          </a:p>
        </p:txBody>
      </p:sp>
      <p:sp>
        <p:nvSpPr>
          <p:cNvPr id="113" name="Google Shape;113;p17"/>
          <p:cNvSpPr/>
          <p:nvPr/>
        </p:nvSpPr>
        <p:spPr>
          <a:xfrm>
            <a:off x="523577" y="2065734"/>
            <a:ext cx="16122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yn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Основна проблема</a:t>
            </a:r>
            <a:endParaRPr b="0" i="0" sz="900" u="none" cap="none" strike="noStrike"/>
          </a:p>
        </p:txBody>
      </p:sp>
      <p:sp>
        <p:nvSpPr>
          <p:cNvPr id="114" name="Google Shape;114;p17"/>
          <p:cNvSpPr/>
          <p:nvPr/>
        </p:nvSpPr>
        <p:spPr>
          <a:xfrm>
            <a:off x="523577" y="2283693"/>
            <a:ext cx="3261717" cy="6868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Існуючі методи контролю якості є </a:t>
            </a:r>
            <a:r>
              <a:rPr b="1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повільними, залежними від оператора</a:t>
            </a: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та недостатньо точними для виявлення мікродефектів. Складно автоматично виявляти подряпини, локальні неоднорідності поверхні в умовах відблисків і змінного освітлення. Відсутня доступна універсальна система для малих і середніх виробництв.</a:t>
            </a:r>
            <a:endParaRPr b="0" i="0" sz="750" u="none" cap="none" strike="noStrike"/>
          </a:p>
        </p:txBody>
      </p:sp>
      <p:sp>
        <p:nvSpPr>
          <p:cNvPr id="115" name="Google Shape;115;p17"/>
          <p:cNvSpPr/>
          <p:nvPr/>
        </p:nvSpPr>
        <p:spPr>
          <a:xfrm>
            <a:off x="523577" y="3053358"/>
            <a:ext cx="3261717" cy="625450"/>
          </a:xfrm>
          <a:prstGeom prst="roundRect">
            <a:avLst>
              <a:gd fmla="val 2355" name="adj"/>
            </a:avLst>
          </a:prstGeom>
          <a:solidFill>
            <a:srgbClr val="0223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6" name="Google Shape;11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1729" y="3190056"/>
            <a:ext cx="122709" cy="98152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842590" y="3151436"/>
            <a:ext cx="2844552" cy="412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Мета: розробити програмну систему автоматизованого аналізу зображень лінз із повним циклом обробки, класифікації та звітності. </a:t>
            </a:r>
            <a:endParaRPr b="0" i="0" sz="750" u="none" cap="none" strike="noStrike"/>
          </a:p>
        </p:txBody>
      </p:sp>
      <p:sp>
        <p:nvSpPr>
          <p:cNvPr id="118" name="Google Shape;118;p17"/>
          <p:cNvSpPr/>
          <p:nvPr/>
        </p:nvSpPr>
        <p:spPr>
          <a:xfrm>
            <a:off x="4029521" y="949970"/>
            <a:ext cx="3863801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yne"/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Постановка задачі — необхідно розробити систему, яка:</a:t>
            </a:r>
            <a:endParaRPr b="0" i="0" sz="900" u="none" cap="none" strike="noStrike"/>
          </a:p>
        </p:txBody>
      </p:sp>
      <p:sp>
        <p:nvSpPr>
          <p:cNvPr id="119" name="Google Shape;119;p17"/>
          <p:cNvSpPr/>
          <p:nvPr/>
        </p:nvSpPr>
        <p:spPr>
          <a:xfrm>
            <a:off x="4029521" y="1329630"/>
            <a:ext cx="4595589" cy="14288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7"/>
          <p:cNvSpPr/>
          <p:nvPr/>
        </p:nvSpPr>
        <p:spPr>
          <a:xfrm>
            <a:off x="4029521" y="1407244"/>
            <a:ext cx="121607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Syne"/>
              <a:buNone/>
            </a:pPr>
            <a:r>
              <a:rPr b="1" i="0" lang="en-US" sz="9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Обробка зображень</a:t>
            </a:r>
            <a:endParaRPr b="0" i="0" sz="900" u="none" cap="none" strike="noStrike"/>
          </a:p>
        </p:txBody>
      </p:sp>
      <p:sp>
        <p:nvSpPr>
          <p:cNvPr id="121" name="Google Shape;121;p17"/>
          <p:cNvSpPr/>
          <p:nvPr/>
        </p:nvSpPr>
        <p:spPr>
          <a:xfrm>
            <a:off x="4029521" y="1625203"/>
            <a:ext cx="45955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Завантаження PNG, JPG, BMP; попередня обробка (фільтрація, grayscale, CLAHE); визначення меж лінзи; аналіз геометрії об'єкта.</a:t>
            </a:r>
            <a:endParaRPr b="0" i="0" sz="750" u="none" cap="none" strike="noStrike"/>
          </a:p>
        </p:txBody>
      </p:sp>
      <p:sp>
        <p:nvSpPr>
          <p:cNvPr id="122" name="Google Shape;122;p17"/>
          <p:cNvSpPr/>
          <p:nvPr/>
        </p:nvSpPr>
        <p:spPr>
          <a:xfrm>
            <a:off x="4029521" y="2199605"/>
            <a:ext cx="4595589" cy="14288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17"/>
          <p:cNvSpPr/>
          <p:nvPr/>
        </p:nvSpPr>
        <p:spPr>
          <a:xfrm>
            <a:off x="4029521" y="2277219"/>
            <a:ext cx="2245593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Syne"/>
              <a:buNone/>
            </a:pPr>
            <a:r>
              <a:rPr b="1" i="0" lang="en-US" sz="9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Виявлення та класифікація дефектів</a:t>
            </a:r>
            <a:endParaRPr b="0" i="0" sz="900" u="none" cap="none" strike="noStrike"/>
          </a:p>
        </p:txBody>
      </p:sp>
      <p:sp>
        <p:nvSpPr>
          <p:cNvPr id="124" name="Google Shape;124;p17"/>
          <p:cNvSpPr/>
          <p:nvPr/>
        </p:nvSpPr>
        <p:spPr>
          <a:xfrm>
            <a:off x="4029521" y="2495178"/>
            <a:ext cx="45955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Автоматичне виявлення подряпин, плям, артефактів; класифікація стану лінзи (придатна / дефектна); підрахунок кількості дефектів; наочна візуалізація результатів.</a:t>
            </a:r>
            <a:endParaRPr b="0" i="0" sz="750" u="none" cap="none" strike="noStrike"/>
          </a:p>
        </p:txBody>
      </p:sp>
      <p:sp>
        <p:nvSpPr>
          <p:cNvPr id="125" name="Google Shape;125;p17"/>
          <p:cNvSpPr/>
          <p:nvPr/>
        </p:nvSpPr>
        <p:spPr>
          <a:xfrm>
            <a:off x="4029521" y="3069580"/>
            <a:ext cx="4595589" cy="14288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>
            <a:off x="4029521" y="3147194"/>
            <a:ext cx="1716658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Syne"/>
              <a:buNone/>
            </a:pPr>
            <a:r>
              <a:rPr b="1" i="0" lang="en-US" sz="9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Автоматизація моніторингу</a:t>
            </a:r>
            <a:endParaRPr b="0" i="0" sz="900" u="none" cap="none" strike="noStrike"/>
          </a:p>
        </p:txBody>
      </p:sp>
      <p:sp>
        <p:nvSpPr>
          <p:cNvPr id="127" name="Google Shape;127;p17"/>
          <p:cNvSpPr/>
          <p:nvPr/>
        </p:nvSpPr>
        <p:spPr>
          <a:xfrm>
            <a:off x="4029521" y="3365153"/>
            <a:ext cx="45955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Ручний та автоматичний режими роботи; моніторинг директорії incoming; автоматична обробка нових файлів; сортування у папки good / defects.</a:t>
            </a:r>
            <a:endParaRPr b="0" i="0" sz="750" u="none" cap="none" strike="noStrike"/>
          </a:p>
        </p:txBody>
      </p:sp>
      <p:sp>
        <p:nvSpPr>
          <p:cNvPr id="128" name="Google Shape;128;p17"/>
          <p:cNvSpPr/>
          <p:nvPr/>
        </p:nvSpPr>
        <p:spPr>
          <a:xfrm>
            <a:off x="4029521" y="3939555"/>
            <a:ext cx="4595589" cy="14288"/>
          </a:xfrm>
          <a:prstGeom prst="rect">
            <a:avLst/>
          </a:prstGeom>
          <a:solidFill>
            <a:srgbClr val="8061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>
            <a:off x="4029521" y="4017169"/>
            <a:ext cx="1155055" cy="1443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Syne"/>
              <a:buNone/>
            </a:pPr>
            <a:r>
              <a:rPr b="1" i="0" lang="en-US" sz="9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Звітність</a:t>
            </a:r>
            <a:endParaRPr b="0" i="0" sz="900" u="none" cap="none" strike="noStrike"/>
          </a:p>
        </p:txBody>
      </p:sp>
      <p:sp>
        <p:nvSpPr>
          <p:cNvPr id="130" name="Google Shape;130;p17"/>
          <p:cNvSpPr/>
          <p:nvPr/>
        </p:nvSpPr>
        <p:spPr>
          <a:xfrm>
            <a:off x="4029521" y="4235128"/>
            <a:ext cx="4595589" cy="274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Arimo"/>
              <a:buNone/>
            </a:pPr>
            <a:r>
              <a:rPr b="0" i="0" lang="en-US" sz="7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Формування PDF-звітів; зображення, статистика та технічні дані; збереження та архівування історії результатів аналізу.</a:t>
            </a:r>
            <a:endParaRPr b="0" i="0" sz="750" u="none" cap="none" strike="noStrike"/>
          </a:p>
        </p:txBody>
      </p:sp>
      <p:sp>
        <p:nvSpPr>
          <p:cNvPr id="131" name="Google Shape;131;p17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417240" y="286866"/>
            <a:ext cx="4576688" cy="245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yne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Архітектура програмного забезпечення</a:t>
            </a:r>
            <a:endParaRPr b="0" i="0" sz="1500" u="none" cap="none" strike="noStrike"/>
          </a:p>
        </p:txBody>
      </p:sp>
      <p:sp>
        <p:nvSpPr>
          <p:cNvPr id="138" name="Google Shape;138;p18"/>
          <p:cNvSpPr/>
          <p:nvPr/>
        </p:nvSpPr>
        <p:spPr>
          <a:xfrm>
            <a:off x="417240" y="638621"/>
            <a:ext cx="8309521" cy="218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Система побудована за </a:t>
            </a:r>
            <a:r>
              <a:rPr b="1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модульним принципом</a:t>
            </a: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: кожен компонент виконує окрему функцію, обмін даними здійснюється через уніфіковані структури результатів. Архітектура забезпечує масштабованість, простоту підтримки та можливість розширення функціоналу.</a:t>
            </a:r>
            <a:endParaRPr b="0" i="0" sz="650" u="none" cap="none" strike="noStrike"/>
          </a:p>
        </p:txBody>
      </p:sp>
      <p:pic>
        <p:nvPicPr>
          <p:cNvPr descr="preencoded.png" id="139" name="Google Shape;13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4634" y="917079"/>
            <a:ext cx="6434658" cy="2414588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8"/>
          <p:cNvSpPr/>
          <p:nvPr/>
        </p:nvSpPr>
        <p:spPr>
          <a:xfrm>
            <a:off x="6553783" y="2663136"/>
            <a:ext cx="970542" cy="351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Файлова утиліта</a:t>
            </a:r>
            <a:endParaRPr b="0" i="0" sz="1100" u="none" cap="none" strike="noStrike"/>
          </a:p>
        </p:txBody>
      </p:sp>
      <p:sp>
        <p:nvSpPr>
          <p:cNvPr id="141" name="Google Shape;141;p18"/>
          <p:cNvSpPr/>
          <p:nvPr/>
        </p:nvSpPr>
        <p:spPr>
          <a:xfrm>
            <a:off x="5330634" y="2663136"/>
            <a:ext cx="970543" cy="351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Генератор PDF</a:t>
            </a:r>
            <a:endParaRPr b="0" i="0" sz="1100" u="none" cap="none" strike="noStrike"/>
          </a:p>
        </p:txBody>
      </p:sp>
      <p:sp>
        <p:nvSpPr>
          <p:cNvPr id="142" name="Google Shape;142;p18"/>
          <p:cNvSpPr/>
          <p:nvPr/>
        </p:nvSpPr>
        <p:spPr>
          <a:xfrm>
            <a:off x="4114133" y="2663136"/>
            <a:ext cx="970542" cy="351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Монітор папки</a:t>
            </a:r>
            <a:endParaRPr b="0" i="0" sz="1100" u="none" cap="none" strike="noStrike"/>
          </a:p>
        </p:txBody>
      </p:sp>
      <p:sp>
        <p:nvSpPr>
          <p:cNvPr id="143" name="Google Shape;143;p18"/>
          <p:cNvSpPr/>
          <p:nvPr/>
        </p:nvSpPr>
        <p:spPr>
          <a:xfrm>
            <a:off x="2897631" y="2663136"/>
            <a:ext cx="970542" cy="3516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Обробка зображень</a:t>
            </a:r>
            <a:endParaRPr b="0" i="0" sz="110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1425940" y="2751008"/>
            <a:ext cx="1199142" cy="1758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00"/>
              <a:buFont typeface="Syne"/>
              <a:buNone/>
            </a:pPr>
            <a:r>
              <a:rPr b="1" i="0" lang="en-US" sz="11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GUI</a:t>
            </a:r>
            <a:endParaRPr b="0" i="0" sz="1100" u="none" cap="none" strike="noStrike"/>
          </a:p>
        </p:txBody>
      </p:sp>
      <p:sp>
        <p:nvSpPr>
          <p:cNvPr id="145" name="Google Shape;145;p18"/>
          <p:cNvSpPr/>
          <p:nvPr/>
        </p:nvSpPr>
        <p:spPr>
          <a:xfrm>
            <a:off x="417240" y="3391495"/>
            <a:ext cx="4128195" cy="539948"/>
          </a:xfrm>
          <a:prstGeom prst="roundRect">
            <a:avLst>
              <a:gd fmla="val 231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500658" y="3474913"/>
            <a:ext cx="981819" cy="12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GUI (PySide6)</a:t>
            </a:r>
            <a:endParaRPr b="0" i="0" sz="750" u="none" cap="none" strike="noStrike"/>
          </a:p>
        </p:txBody>
      </p:sp>
      <p:sp>
        <p:nvSpPr>
          <p:cNvPr id="147" name="Google Shape;147;p18"/>
          <p:cNvSpPr/>
          <p:nvPr/>
        </p:nvSpPr>
        <p:spPr>
          <a:xfrm>
            <a:off x="500658" y="3629397"/>
            <a:ext cx="3961358" cy="10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Взаємодія з оператором, відображення результатів, керування режимами роботи системи.</a:t>
            </a:r>
            <a:endParaRPr b="0" i="0" sz="65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4598566" y="3391495"/>
            <a:ext cx="4128195" cy="539948"/>
          </a:xfrm>
          <a:prstGeom prst="roundRect">
            <a:avLst>
              <a:gd fmla="val 231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4681984" y="3474913"/>
            <a:ext cx="981819" cy="12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Image Processing</a:t>
            </a:r>
            <a:endParaRPr b="0" i="0" sz="750" u="none" cap="none" strike="noStrike"/>
          </a:p>
        </p:txBody>
      </p:sp>
      <p:sp>
        <p:nvSpPr>
          <p:cNvPr id="150" name="Google Shape;150;p18"/>
          <p:cNvSpPr/>
          <p:nvPr/>
        </p:nvSpPr>
        <p:spPr>
          <a:xfrm>
            <a:off x="4681984" y="3629397"/>
            <a:ext cx="3961358" cy="218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Попередня обробка зображень, виявлення лінзи та її меж, детекція дефектів, формування результату.</a:t>
            </a:r>
            <a:endParaRPr b="0" i="0" sz="650" u="none" cap="none" strike="noStrike"/>
          </a:p>
        </p:txBody>
      </p:sp>
      <p:sp>
        <p:nvSpPr>
          <p:cNvPr id="151" name="Google Shape;151;p18"/>
          <p:cNvSpPr/>
          <p:nvPr/>
        </p:nvSpPr>
        <p:spPr>
          <a:xfrm>
            <a:off x="417240" y="3984575"/>
            <a:ext cx="4128195" cy="430634"/>
          </a:xfrm>
          <a:prstGeom prst="roundRect">
            <a:avLst>
              <a:gd fmla="val 2907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500658" y="4067994"/>
            <a:ext cx="981819" cy="12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Folder Monitor</a:t>
            </a:r>
            <a:endParaRPr b="0" i="0" sz="750" u="none" cap="none" strike="noStrike"/>
          </a:p>
        </p:txBody>
      </p:sp>
      <p:sp>
        <p:nvSpPr>
          <p:cNvPr id="153" name="Google Shape;153;p18"/>
          <p:cNvSpPr/>
          <p:nvPr/>
        </p:nvSpPr>
        <p:spPr>
          <a:xfrm>
            <a:off x="500658" y="4222477"/>
            <a:ext cx="3961358" cy="10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Відстеження папки incoming, автоматичний запуск аналізу, фоновий режим (QThread, 24/7).</a:t>
            </a:r>
            <a:endParaRPr b="0" i="0" sz="650" u="none" cap="none" strike="noStrike"/>
          </a:p>
        </p:txBody>
      </p:sp>
      <p:sp>
        <p:nvSpPr>
          <p:cNvPr id="154" name="Google Shape;154;p18"/>
          <p:cNvSpPr/>
          <p:nvPr/>
        </p:nvSpPr>
        <p:spPr>
          <a:xfrm>
            <a:off x="4598566" y="3984575"/>
            <a:ext cx="4128195" cy="430634"/>
          </a:xfrm>
          <a:prstGeom prst="roundRect">
            <a:avLst>
              <a:gd fmla="val 2907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4681984" y="4067994"/>
            <a:ext cx="981819" cy="122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Report Generator</a:t>
            </a:r>
            <a:endParaRPr b="0" i="0" sz="750" u="none" cap="none" strike="noStrike"/>
          </a:p>
        </p:txBody>
      </p:sp>
      <p:sp>
        <p:nvSpPr>
          <p:cNvPr id="156" name="Google Shape;156;p18"/>
          <p:cNvSpPr/>
          <p:nvPr/>
        </p:nvSpPr>
        <p:spPr>
          <a:xfrm>
            <a:off x="4681984" y="4222477"/>
            <a:ext cx="3961358" cy="10931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Формування PDF-звітів: зображення, статистика дефектів, час і дата перевірки.</a:t>
            </a:r>
            <a:endParaRPr b="0" i="0" sz="650" u="none" cap="none" strike="noStrike"/>
          </a:p>
        </p:txBody>
      </p:sp>
      <p:sp>
        <p:nvSpPr>
          <p:cNvPr id="157" name="Google Shape;157;p18"/>
          <p:cNvSpPr/>
          <p:nvPr/>
        </p:nvSpPr>
        <p:spPr>
          <a:xfrm>
            <a:off x="417240" y="4475038"/>
            <a:ext cx="8309521" cy="382116"/>
          </a:xfrm>
          <a:prstGeom prst="roundRect">
            <a:avLst>
              <a:gd fmla="val 3276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8" name="Google Shape;158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0658" y="4587255"/>
            <a:ext cx="104254" cy="83418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/>
          <p:nvPr/>
        </p:nvSpPr>
        <p:spPr>
          <a:xfrm>
            <a:off x="688330" y="4549006"/>
            <a:ext cx="7955012" cy="218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mo"/>
              <a:buNone/>
            </a:pPr>
            <a:r>
              <a:rPr b="1" i="0" lang="en-US" sz="6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Архітектурний принцип:</a:t>
            </a:r>
            <a:r>
              <a:rPr b="0" i="0" lang="en-US" sz="6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Модульна архітектура забезпечує стабільну та масштабовану роботу системи автоматичного контролю якості. Обробка зображень, UI та файлова система є повністю незалежними компонентами.</a:t>
            </a:r>
            <a:endParaRPr b="0" i="0" sz="65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/>
          <p:nvPr/>
        </p:nvSpPr>
        <p:spPr>
          <a:xfrm>
            <a:off x="523577" y="383902"/>
            <a:ext cx="6588175" cy="30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yne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UML проєктування програмного забезпечення</a:t>
            </a:r>
            <a:endParaRPr b="0" i="0" sz="1900" u="none" cap="none" strike="noStrike"/>
          </a:p>
        </p:txBody>
      </p:sp>
      <p:sp>
        <p:nvSpPr>
          <p:cNvPr id="167" name="Google Shape;167;p19"/>
          <p:cNvSpPr/>
          <p:nvPr/>
        </p:nvSpPr>
        <p:spPr>
          <a:xfrm>
            <a:off x="523577" y="859334"/>
            <a:ext cx="8096845" cy="30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UML використано для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формалізації поведінки та структури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системи автоматизованого контролю якості лінз, включаючи взаємодію користувача з GUI та внутрішніх модулів між собою.</a:t>
            </a:r>
            <a:endParaRPr b="0" i="0" sz="80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523577" y="1255068"/>
            <a:ext cx="2643113" cy="2871192"/>
          </a:xfrm>
          <a:prstGeom prst="roundRect">
            <a:avLst>
              <a:gd fmla="val 594" name="adj"/>
            </a:avLst>
          </a:prstGeom>
          <a:solidFill>
            <a:srgbClr val="0C0A33"/>
          </a:solidFill>
          <a:ln cap="flat" cmpd="sng" w="1427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642565" y="1374056"/>
            <a:ext cx="1261988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Use Case Diagram</a:t>
            </a:r>
            <a:endParaRPr b="0" i="0" sz="950" u="none" cap="none" strike="noStrike"/>
          </a:p>
        </p:txBody>
      </p:sp>
      <p:sp>
        <p:nvSpPr>
          <p:cNvPr id="170" name="Google Shape;170;p19"/>
          <p:cNvSpPr/>
          <p:nvPr/>
        </p:nvSpPr>
        <p:spPr>
          <a:xfrm>
            <a:off x="642565" y="1578322"/>
            <a:ext cx="2405137" cy="15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Актор: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Користувач (Оператор)</a:t>
            </a:r>
            <a:endParaRPr b="0" i="0" sz="80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642565" y="1779315"/>
            <a:ext cx="2405137" cy="8417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Завантажити зображення лінзи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Запустити / зупинити автоматичний моніторинг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Переглянути результати аналізу в GUI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Згенерувати PDF-звіт</a:t>
            </a:r>
            <a:endParaRPr b="0" i="0" sz="800" u="none" cap="none" strike="noStrike"/>
          </a:p>
        </p:txBody>
      </p:sp>
      <p:sp>
        <p:nvSpPr>
          <p:cNvPr id="172" name="Google Shape;172;p19"/>
          <p:cNvSpPr/>
          <p:nvPr/>
        </p:nvSpPr>
        <p:spPr>
          <a:xfrm>
            <a:off x="642565" y="2671316"/>
            <a:ext cx="2405137" cy="60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Підсистеми: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Модуль обробки зображень, Модуль моніторингу директорій, Модуль генерації PDF. Система підтримує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ручний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та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автоматичний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режими аналізу.</a:t>
            </a:r>
            <a:endParaRPr b="0" i="0" sz="800" u="none" cap="none" strike="noStrike"/>
          </a:p>
        </p:txBody>
      </p:sp>
      <p:sp>
        <p:nvSpPr>
          <p:cNvPr id="173" name="Google Shape;173;p19"/>
          <p:cNvSpPr/>
          <p:nvPr/>
        </p:nvSpPr>
        <p:spPr>
          <a:xfrm>
            <a:off x="3250406" y="1255068"/>
            <a:ext cx="2643113" cy="2871192"/>
          </a:xfrm>
          <a:prstGeom prst="roundRect">
            <a:avLst>
              <a:gd fmla="val 594" name="adj"/>
            </a:avLst>
          </a:prstGeom>
          <a:solidFill>
            <a:srgbClr val="0C0A33"/>
          </a:solidFill>
          <a:ln cap="flat" cmpd="sng" w="1427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"/>
          <p:cNvSpPr/>
          <p:nvPr/>
        </p:nvSpPr>
        <p:spPr>
          <a:xfrm>
            <a:off x="3369394" y="1374056"/>
            <a:ext cx="1302767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Sequence Diagram</a:t>
            </a:r>
            <a:endParaRPr b="0" i="0" sz="950" u="none" cap="none" strike="noStrike"/>
          </a:p>
        </p:txBody>
      </p:sp>
      <p:sp>
        <p:nvSpPr>
          <p:cNvPr id="175" name="Google Shape;175;p19"/>
          <p:cNvSpPr/>
          <p:nvPr/>
        </p:nvSpPr>
        <p:spPr>
          <a:xfrm>
            <a:off x="3369394" y="1578322"/>
            <a:ext cx="2405137" cy="150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Сценарій 1 — Одинична обробка:</a:t>
            </a:r>
            <a:endParaRPr b="0" i="0" sz="80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3369394" y="1779315"/>
            <a:ext cx="2405137" cy="9632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Calibri"/>
              <a:buAutoNum type="arabicPeriod"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Користувач обирає файл → GUI передає шлях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Calibri"/>
              <a:buAutoNum type="arabicPeriod"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ImageProcessor: завантаження → аналіз → детекція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Calibri"/>
              <a:buAutoNum type="arabicPeriod"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Результат повертається у GUI: зображення, кількість дефектів, статус</a:t>
            </a:r>
            <a:endParaRPr b="0" i="0" sz="800" u="none" cap="none" strike="noStrike"/>
          </a:p>
        </p:txBody>
      </p:sp>
      <p:sp>
        <p:nvSpPr>
          <p:cNvPr id="177" name="Google Shape;177;p19"/>
          <p:cNvSpPr/>
          <p:nvPr/>
        </p:nvSpPr>
        <p:spPr>
          <a:xfrm>
            <a:off x="3369394" y="2792760"/>
            <a:ext cx="2405137" cy="904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Сценарій 2 — Автомоніторинг: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FolderMonitor перевіряє incoming → новий файл → запускає аналіз → класифікація → переміщення (good/defect) → GUI оновлюється через сигнали (image_processed, status_changed). Обробка у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QThread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, GUI не блокується.</a:t>
            </a:r>
            <a:endParaRPr b="0" i="0" sz="800" u="none" cap="none" strike="noStrike"/>
          </a:p>
        </p:txBody>
      </p:sp>
      <p:sp>
        <p:nvSpPr>
          <p:cNvPr id="178" name="Google Shape;178;p19"/>
          <p:cNvSpPr/>
          <p:nvPr/>
        </p:nvSpPr>
        <p:spPr>
          <a:xfrm>
            <a:off x="5977235" y="1255068"/>
            <a:ext cx="2643113" cy="2871192"/>
          </a:xfrm>
          <a:prstGeom prst="roundRect">
            <a:avLst>
              <a:gd fmla="val 594" name="adj"/>
            </a:avLst>
          </a:prstGeom>
          <a:solidFill>
            <a:srgbClr val="0C0A33"/>
          </a:solidFill>
          <a:ln cap="flat" cmpd="sng" w="1427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9"/>
          <p:cNvSpPr/>
          <p:nvPr/>
        </p:nvSpPr>
        <p:spPr>
          <a:xfrm>
            <a:off x="6096223" y="1374056"/>
            <a:ext cx="1232074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Class Diagram</a:t>
            </a:r>
            <a:endParaRPr b="0" i="0" sz="95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6096223" y="1578322"/>
            <a:ext cx="2405137" cy="19264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MainWindow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координує всю систему: завантаження, запуск моніторингу, оновлення UI, виклик звітів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ImageProcessor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попередня обробка, виявлення лінзи, аналіз дефектів, класифікація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FolderMonitor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моніторинг incoming, QThread, автозапуск аналізу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ReportGenerator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PDF з зображеннями, статистикою, метаданими</a:t>
            </a:r>
            <a:endParaRPr b="0" i="0" sz="800" u="none" cap="none" strike="noStrike"/>
          </a:p>
          <a:p>
            <a:pPr indent="-342900" lvl="0" marL="3429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Char char="•"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ImageConverter / Utils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конвертація зображень, підготовка даних для UI</a:t>
            </a:r>
            <a:endParaRPr b="0" i="0" sz="800" u="none" cap="none" strike="noStrike"/>
          </a:p>
        </p:txBody>
      </p:sp>
      <p:sp>
        <p:nvSpPr>
          <p:cNvPr id="181" name="Google Shape;181;p19"/>
          <p:cNvSpPr/>
          <p:nvPr/>
        </p:nvSpPr>
        <p:spPr>
          <a:xfrm>
            <a:off x="6096223" y="3554983"/>
            <a:ext cx="2405137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Архітектурний принцип: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розділення відповідальностей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(Separation of Concerns), незалежність обробки, UI та файлової системи.</a:t>
            </a:r>
            <a:endParaRPr b="0" i="0" sz="800" u="none" cap="none" strike="noStrike"/>
          </a:p>
        </p:txBody>
      </p:sp>
      <p:sp>
        <p:nvSpPr>
          <p:cNvPr id="182" name="Google Shape;182;p19"/>
          <p:cNvSpPr/>
          <p:nvPr/>
        </p:nvSpPr>
        <p:spPr>
          <a:xfrm>
            <a:off x="523577" y="4220468"/>
            <a:ext cx="8096845" cy="539055"/>
          </a:xfrm>
          <a:prstGeom prst="roundRect">
            <a:avLst>
              <a:gd fmla="val 2914" name="adj"/>
            </a:avLst>
          </a:prstGeom>
          <a:solidFill>
            <a:srgbClr val="0F004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3" name="Google Shape;18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8278" y="4369147"/>
            <a:ext cx="130894" cy="104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9"/>
          <p:cNvSpPr/>
          <p:nvPr/>
        </p:nvSpPr>
        <p:spPr>
          <a:xfrm>
            <a:off x="863873" y="4330303"/>
            <a:ext cx="7651849" cy="301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UML-діаграми відображають повну архітектуру системи: сценарії взаємодії користувача, послідовність обробки даних та структуру основних програмних компонентів.</a:t>
            </a:r>
            <a:endParaRPr b="0" i="0" sz="800" u="none" cap="none" strike="noStrike"/>
          </a:p>
        </p:txBody>
      </p:sp>
      <p:sp>
        <p:nvSpPr>
          <p:cNvPr id="185" name="Google Shape;185;p19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499095" y="357857"/>
            <a:ext cx="3625602" cy="2384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yne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Алгоритми обробки зображень</a:t>
            </a:r>
            <a:endParaRPr b="0" i="0" sz="1500" u="none" cap="none" strike="noStrike"/>
          </a:p>
        </p:txBody>
      </p:sp>
      <p:pic>
        <p:nvPicPr>
          <p:cNvPr descr="preencoded.png" id="192" name="Google Shape;19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6449" y="696813"/>
            <a:ext cx="5251103" cy="226442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/>
          <p:nvPr/>
        </p:nvSpPr>
        <p:spPr>
          <a:xfrm>
            <a:off x="2299770" y="2536199"/>
            <a:ext cx="1578356" cy="140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Syne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Бінарна маска</a:t>
            </a:r>
            <a:endParaRPr b="1" i="0" sz="850" u="none" cap="none" strike="noStrike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4" name="Google Shape;194;p20"/>
          <p:cNvSpPr/>
          <p:nvPr/>
        </p:nvSpPr>
        <p:spPr>
          <a:xfrm>
            <a:off x="2299770" y="2012022"/>
            <a:ext cx="1578356" cy="140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Syne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Виявлення межі</a:t>
            </a:r>
            <a:endParaRPr b="1" i="0" sz="850" u="none" cap="none" strike="noStrike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2299770" y="1493141"/>
            <a:ext cx="1649917" cy="140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Syne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Grayscale + CLAHE</a:t>
            </a:r>
            <a:endParaRPr b="0" i="0" sz="850" u="none" cap="none" strike="noStrike"/>
          </a:p>
        </p:txBody>
      </p:sp>
      <p:sp>
        <p:nvSpPr>
          <p:cNvPr id="196" name="Google Shape;196;p20"/>
          <p:cNvSpPr/>
          <p:nvPr/>
        </p:nvSpPr>
        <p:spPr>
          <a:xfrm>
            <a:off x="2299770" y="968964"/>
            <a:ext cx="1591675" cy="140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Syne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Вхідне зображення</a:t>
            </a:r>
            <a:endParaRPr b="1" i="0" sz="850" u="none" cap="none" strike="noStrike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762595" y="3074194"/>
            <a:ext cx="1704975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1. Попередня обробка зображення</a:t>
            </a:r>
            <a:endParaRPr b="0" i="0" sz="750" u="none" cap="none" strike="noStrike"/>
          </a:p>
        </p:txBody>
      </p:sp>
      <p:sp>
        <p:nvSpPr>
          <p:cNvPr id="198" name="Google Shape;198;p20"/>
          <p:cNvSpPr/>
          <p:nvPr/>
        </p:nvSpPr>
        <p:spPr>
          <a:xfrm>
            <a:off x="762595" y="3243635"/>
            <a:ext cx="3710508" cy="315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Завантаження (PNG, JPG, BMP) → перетворення у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grayscale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→ зменшення шумів (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Gaussian Blur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) → підвищення контрасту за допомогою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CLAHE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(Contrast Limited Adaptive Histogram Equalization). Результат: покращена видимість мікродефектів, стабілізація освітлення.</a:t>
            </a:r>
            <a:endParaRPr b="0" i="0" sz="600" u="none" cap="none" strike="noStrike"/>
          </a:p>
        </p:txBody>
      </p:sp>
      <p:sp>
        <p:nvSpPr>
          <p:cNvPr id="199" name="Google Shape;199;p20"/>
          <p:cNvSpPr/>
          <p:nvPr/>
        </p:nvSpPr>
        <p:spPr>
          <a:xfrm>
            <a:off x="762595" y="3659312"/>
            <a:ext cx="1199257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2. Виявлення меж лінзи</a:t>
            </a:r>
            <a:endParaRPr b="0" i="0" sz="750" u="none" cap="none" strike="noStrike"/>
          </a:p>
        </p:txBody>
      </p:sp>
      <p:sp>
        <p:nvSpPr>
          <p:cNvPr id="200" name="Google Shape;200;p20"/>
          <p:cNvSpPr/>
          <p:nvPr/>
        </p:nvSpPr>
        <p:spPr>
          <a:xfrm>
            <a:off x="762595" y="3828752"/>
            <a:ext cx="3710508" cy="420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Власний алгоритм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радіального аналізу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від центру зображення: сканування по багатьох променях (0–360°), пошук максимального градієнту яскравості на кожному промені. Не використовується стандартний Hough Circle — алгоритм стійкий до нерівномірного освітлення та шумів.</a:t>
            </a:r>
            <a:endParaRPr b="0" i="0" sz="600" u="none" cap="none" strike="noStrike"/>
          </a:p>
        </p:txBody>
      </p:sp>
      <p:sp>
        <p:nvSpPr>
          <p:cNvPr id="201" name="Google Shape;201;p20"/>
          <p:cNvSpPr/>
          <p:nvPr/>
        </p:nvSpPr>
        <p:spPr>
          <a:xfrm>
            <a:off x="762595" y="4349502"/>
            <a:ext cx="1480765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3. Геометрична модель лінзи</a:t>
            </a:r>
            <a:endParaRPr b="0" i="0" sz="750" u="none" cap="none" strike="noStrike"/>
          </a:p>
        </p:txBody>
      </p:sp>
      <p:sp>
        <p:nvSpPr>
          <p:cNvPr id="202" name="Google Shape;202;p20"/>
          <p:cNvSpPr/>
          <p:nvPr/>
        </p:nvSpPr>
        <p:spPr>
          <a:xfrm>
            <a:off x="762595" y="4518943"/>
            <a:ext cx="3710508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Фільтрація аномальних точок межі → побудова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еліпсу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, що апроксимує форму лінзи. Враховує нахил камери, перспективні спотворення та неідеальну форму об'єкта.</a:t>
            </a:r>
            <a:endParaRPr b="0" i="0" sz="600" u="none" cap="none" strike="noStrike"/>
          </a:p>
        </p:txBody>
      </p:sp>
      <p:sp>
        <p:nvSpPr>
          <p:cNvPr id="203" name="Google Shape;203;p20"/>
          <p:cNvSpPr/>
          <p:nvPr/>
        </p:nvSpPr>
        <p:spPr>
          <a:xfrm>
            <a:off x="4939159" y="3074194"/>
            <a:ext cx="1113383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4. Маска аналізу (ROI)</a:t>
            </a:r>
            <a:endParaRPr b="0" i="0" sz="750" u="none" cap="none" strike="noStrike"/>
          </a:p>
        </p:txBody>
      </p:sp>
      <p:sp>
        <p:nvSpPr>
          <p:cNvPr id="204" name="Google Shape;204;p20"/>
          <p:cNvSpPr/>
          <p:nvPr/>
        </p:nvSpPr>
        <p:spPr>
          <a:xfrm>
            <a:off x="4939159" y="3243635"/>
            <a:ext cx="3710508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Створюється бінарна маска лінзи та додаткова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inner mask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безпечна зона аналізу. Краї лінзи виключаються через високу концентрацію артефактів відбиття.</a:t>
            </a:r>
            <a:endParaRPr b="0" i="0" sz="600" u="none" cap="none" strike="noStrike"/>
          </a:p>
        </p:txBody>
      </p:sp>
      <p:sp>
        <p:nvSpPr>
          <p:cNvPr id="205" name="Google Shape;205;p20"/>
          <p:cNvSpPr/>
          <p:nvPr/>
        </p:nvSpPr>
        <p:spPr>
          <a:xfrm>
            <a:off x="4939159" y="3554239"/>
            <a:ext cx="1507927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5. Детекція дефектів поверхні</a:t>
            </a:r>
            <a:endParaRPr b="0" i="0" sz="750" u="none" cap="none" strike="noStrike"/>
          </a:p>
        </p:txBody>
      </p:sp>
      <p:sp>
        <p:nvSpPr>
          <p:cNvPr id="206" name="Google Shape;206;p20"/>
          <p:cNvSpPr/>
          <p:nvPr/>
        </p:nvSpPr>
        <p:spPr>
          <a:xfrm>
            <a:off x="4939159" y="3723680"/>
            <a:ext cx="3710508" cy="3152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Pipeline: нормалізація фону (Gaussian Blur + різниця з оригіналом) → виділення дрібних структур →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Canny Edge Detector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→ морфологічні операції →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HoughLinesP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для виявлення лінійних дефектів (подряпин). Виконується фільтрація дублікатів ліній.</a:t>
            </a:r>
            <a:endParaRPr b="0" i="0" sz="600" u="none" cap="none" strike="noStrike"/>
          </a:p>
        </p:txBody>
      </p:sp>
      <p:sp>
        <p:nvSpPr>
          <p:cNvPr id="207" name="Google Shape;207;p20"/>
          <p:cNvSpPr/>
          <p:nvPr/>
        </p:nvSpPr>
        <p:spPr>
          <a:xfrm>
            <a:off x="4939159" y="4139357"/>
            <a:ext cx="1189732" cy="1192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6. Підвищення точності</a:t>
            </a:r>
            <a:endParaRPr b="0" i="0" sz="750" u="none" cap="none" strike="noStrike"/>
          </a:p>
        </p:txBody>
      </p:sp>
      <p:sp>
        <p:nvSpPr>
          <p:cNvPr id="208" name="Google Shape;208;p20"/>
          <p:cNvSpPr/>
          <p:nvPr/>
        </p:nvSpPr>
        <p:spPr>
          <a:xfrm>
            <a:off x="4939159" y="4308797"/>
            <a:ext cx="3710508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CLAHE підсилює локальний контраст; </a:t>
            </a:r>
            <a:r>
              <a:rPr b="1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інверсія зображення</a:t>
            </a:r>
            <a:r>
              <a:rPr b="0" i="0" lang="en-US" sz="6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(negative mode) покращує видимість слабких подряпин. Комбінований підхід підвищує загальну точність детекції дефектів.</a:t>
            </a:r>
            <a:endParaRPr b="0" i="0" sz="600" u="none" cap="none" strike="noStrike"/>
          </a:p>
        </p:txBody>
      </p:sp>
      <p:sp>
        <p:nvSpPr>
          <p:cNvPr id="209" name="Google Shape;209;p20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1"/>
          <p:cNvSpPr/>
          <p:nvPr/>
        </p:nvSpPr>
        <p:spPr>
          <a:xfrm>
            <a:off x="523577" y="359941"/>
            <a:ext cx="5100300" cy="2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Математична модель виявлення меж лінзи</a:t>
            </a:r>
            <a:endParaRPr b="0" i="0" sz="1550" u="none" cap="none" strike="noStrike"/>
          </a:p>
        </p:txBody>
      </p:sp>
      <p:sp>
        <p:nvSpPr>
          <p:cNvPr id="216" name="Google Shape;216;p21"/>
          <p:cNvSpPr/>
          <p:nvPr/>
        </p:nvSpPr>
        <p:spPr>
          <a:xfrm>
            <a:off x="523575" y="748375"/>
            <a:ext cx="2212800" cy="1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Syn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1. Пошук граничних точок</a:t>
            </a:r>
            <a:endParaRPr b="0" i="0" sz="1200" u="none" cap="none" strike="noStrike"/>
          </a:p>
        </p:txBody>
      </p:sp>
      <p:sp>
        <p:nvSpPr>
          <p:cNvPr id="217" name="Google Shape;217;p21"/>
          <p:cNvSpPr/>
          <p:nvPr/>
        </p:nvSpPr>
        <p:spPr>
          <a:xfrm>
            <a:off x="523575" y="977550"/>
            <a:ext cx="4418100" cy="2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Алгоритм виконує сканування зображення від центру до периферії по множині променів та визначає точки максимального перепаду яскравості.</a:t>
            </a:r>
            <a:endParaRPr b="0" i="0" sz="1000" u="none" cap="none" strike="noStrike"/>
          </a:p>
        </p:txBody>
      </p:sp>
      <p:pic>
        <p:nvPicPr>
          <p:cNvPr descr="preencoded.png" id="218" name="Google Shape;218;p21"/>
          <p:cNvPicPr preferRelativeResize="0"/>
          <p:nvPr/>
        </p:nvPicPr>
        <p:blipFill rotWithShape="1">
          <a:blip r:embed="rId3">
            <a:alphaModFix/>
          </a:blip>
          <a:srcRect b="-41223" l="0" r="0" t="-27241"/>
          <a:stretch/>
        </p:blipFill>
        <p:spPr>
          <a:xfrm>
            <a:off x="523575" y="1348975"/>
            <a:ext cx="5561999" cy="339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/>
          <p:nvPr/>
        </p:nvSpPr>
        <p:spPr>
          <a:xfrm>
            <a:off x="523565" y="1687974"/>
            <a:ext cx="3695400" cy="37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5125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G — градієнт яскравості;</a:t>
            </a:r>
            <a:endParaRPr b="0" i="0" sz="1000" u="none" cap="none" strike="noStrike"/>
          </a:p>
          <a:p>
            <a:pPr indent="-365125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I(r) — інтенсивність поточного пікселя;</a:t>
            </a:r>
            <a:endParaRPr b="0" i="0" sz="1000" u="none" cap="none" strike="noStrike"/>
          </a:p>
          <a:p>
            <a:pPr indent="-365125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I(r−1) — інтенсивність попереднього пікселя.</a:t>
            </a:r>
            <a:endParaRPr b="0" i="0" sz="1000" u="none" cap="none" strike="noStrike"/>
          </a:p>
        </p:txBody>
      </p:sp>
      <p:sp>
        <p:nvSpPr>
          <p:cNvPr id="220" name="Google Shape;220;p21"/>
          <p:cNvSpPr/>
          <p:nvPr/>
        </p:nvSpPr>
        <p:spPr>
          <a:xfrm>
            <a:off x="523575" y="2307350"/>
            <a:ext cx="30276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Syne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2. Усунення шумових точок</a:t>
            </a:r>
            <a:endParaRPr b="0" i="0" sz="1200" u="none" cap="none" strike="noStrike"/>
          </a:p>
        </p:txBody>
      </p:sp>
      <p:sp>
        <p:nvSpPr>
          <p:cNvPr id="221" name="Google Shape;221;p21"/>
          <p:cNvSpPr/>
          <p:nvPr/>
        </p:nvSpPr>
        <p:spPr>
          <a:xfrm>
            <a:off x="523577" y="2549279"/>
            <a:ext cx="41526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Формула відстані точки до центра:</a:t>
            </a:r>
            <a:endParaRPr b="0" i="0" sz="1000" u="none" cap="none" strike="noStrike"/>
          </a:p>
        </p:txBody>
      </p:sp>
      <p:pic>
        <p:nvPicPr>
          <p:cNvPr descr="preencoded.png" id="222" name="Google Shape;22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3575" y="2841025"/>
            <a:ext cx="5561999" cy="25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1"/>
          <p:cNvSpPr/>
          <p:nvPr/>
        </p:nvSpPr>
        <p:spPr>
          <a:xfrm>
            <a:off x="523575" y="3226661"/>
            <a:ext cx="36954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5125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dᵢ — радіальна відстань точки;</a:t>
            </a:r>
            <a:endParaRPr b="0" i="0" sz="1000" u="none" cap="none" strike="noStrike"/>
          </a:p>
          <a:p>
            <a:pPr indent="-365125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(cₓ, cᵧ) — координати центра;</a:t>
            </a:r>
            <a:endParaRPr b="0" i="0" sz="1000" u="none" cap="none" strike="noStrike"/>
          </a:p>
          <a:p>
            <a:pPr indent="-365125" lvl="0" marL="3429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(xᵢ, yᵢ) — координати точки контуру.</a:t>
            </a:r>
            <a:endParaRPr b="0" i="0" sz="1000" u="none" cap="none" strike="noStrike"/>
          </a:p>
        </p:txBody>
      </p:sp>
      <p:sp>
        <p:nvSpPr>
          <p:cNvPr id="224" name="Google Shape;224;p21"/>
          <p:cNvSpPr/>
          <p:nvPr/>
        </p:nvSpPr>
        <p:spPr>
          <a:xfrm>
            <a:off x="523577" y="3842669"/>
            <a:ext cx="41526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Медіанний радіус:</a:t>
            </a:r>
            <a:endParaRPr b="0" i="0" sz="1000" u="none" cap="none" strike="noStrike"/>
          </a:p>
        </p:txBody>
      </p:sp>
      <p:pic>
        <p:nvPicPr>
          <p:cNvPr descr="preencoded.png" id="225" name="Google Shape;225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3574" y="4040750"/>
            <a:ext cx="5038498" cy="207773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1"/>
          <p:cNvSpPr/>
          <p:nvPr/>
        </p:nvSpPr>
        <p:spPr>
          <a:xfrm>
            <a:off x="523575" y="4358700"/>
            <a:ext cx="55620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Точки, які суттєво відхиляються від медіанного радіуса, виключаються з подальшого аналізу.</a:t>
            </a:r>
            <a:endParaRPr b="0" i="0" sz="1000" u="none" cap="none" strike="noStrike"/>
          </a:p>
        </p:txBody>
      </p:sp>
      <p:sp>
        <p:nvSpPr>
          <p:cNvPr id="227" name="Google Shape;227;p21"/>
          <p:cNvSpPr/>
          <p:nvPr/>
        </p:nvSpPr>
        <p:spPr>
          <a:xfrm>
            <a:off x="4431432" y="742801"/>
            <a:ext cx="46509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50"/>
              <a:buFont typeface="Arial"/>
              <a:buNone/>
            </a:pPr>
            <a:r>
              <a:t/>
            </a:r>
            <a:endParaRPr b="0" i="0" sz="650" u="none" cap="none" strike="noStrike"/>
          </a:p>
        </p:txBody>
      </p:sp>
      <p:sp>
        <p:nvSpPr>
          <p:cNvPr id="228" name="Google Shape;228;p21"/>
          <p:cNvSpPr/>
          <p:nvPr/>
        </p:nvSpPr>
        <p:spPr>
          <a:xfrm>
            <a:off x="523575" y="4587675"/>
            <a:ext cx="8192400" cy="339000"/>
          </a:xfrm>
          <a:prstGeom prst="roundRect">
            <a:avLst>
              <a:gd fmla="val 4544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9" name="Google Shape;22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56271" y="4675504"/>
            <a:ext cx="156384" cy="125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/>
          <p:nvPr/>
        </p:nvSpPr>
        <p:spPr>
          <a:xfrm>
            <a:off x="762676" y="4675497"/>
            <a:ext cx="8192400" cy="1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mo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Результат алгоритму: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1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в</a:t>
            </a:r>
            <a:r>
              <a:rPr b="0" i="0" lang="en-US" sz="10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изначення геометричних параметрів лінзи та формування області подальшого аналізу дефектів.</a:t>
            </a:r>
            <a:endParaRPr b="0" i="0" sz="1000" u="none" cap="none" strike="noStrike"/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050554" y="359950"/>
            <a:ext cx="3859645" cy="3830450"/>
          </a:xfrm>
          <a:prstGeom prst="rect">
            <a:avLst/>
          </a:prstGeom>
          <a:noFill/>
          <a:ln cap="flat" cmpd="sng" w="127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32" name="Google Shape;232;p21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523577" y="426393"/>
            <a:ext cx="3075384" cy="3271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50"/>
              <a:buFont typeface="Syne"/>
              <a:buNone/>
            </a:pPr>
            <a:r>
              <a:rPr b="1" i="0" lang="en-US" sz="20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Засоби розробки</a:t>
            </a:r>
            <a:endParaRPr b="0" i="0" sz="2050" u="none" cap="none" strike="noStrike"/>
          </a:p>
        </p:txBody>
      </p:sp>
      <p:sp>
        <p:nvSpPr>
          <p:cNvPr id="239" name="Google Shape;239;p22"/>
          <p:cNvSpPr/>
          <p:nvPr/>
        </p:nvSpPr>
        <p:spPr>
          <a:xfrm>
            <a:off x="523577" y="942752"/>
            <a:ext cx="8096845" cy="329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Всі засоби розробки обрані з урахуванням вимог до </a:t>
            </a: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автоматизованої системи комп'ютерного зору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, обробки зображень у реальному часі та побудови desktop-застосунку промислового рівня.</a:t>
            </a:r>
            <a:endParaRPr b="0" i="0" sz="850" u="none" cap="none" strike="noStrike"/>
          </a:p>
        </p:txBody>
      </p:sp>
      <p:sp>
        <p:nvSpPr>
          <p:cNvPr id="240" name="Google Shape;240;p22"/>
          <p:cNvSpPr/>
          <p:nvPr/>
        </p:nvSpPr>
        <p:spPr>
          <a:xfrm>
            <a:off x="864245" y="1416546"/>
            <a:ext cx="2145581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Python — мова програмування</a:t>
            </a:r>
            <a:endParaRPr b="0" i="0" sz="1000" u="none" cap="none" strike="noStrike"/>
          </a:p>
        </p:txBody>
      </p:sp>
      <p:sp>
        <p:nvSpPr>
          <p:cNvPr id="241" name="Google Shape;241;p22"/>
          <p:cNvSpPr/>
          <p:nvPr/>
        </p:nvSpPr>
        <p:spPr>
          <a:xfrm>
            <a:off x="864245" y="1636812"/>
            <a:ext cx="2279452" cy="115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Основна мова розробки всієї системи. Використовується для реалізації алгоритмів комп'ютерного зору, обробки зображень, автоматизації та UI-логіки. Переваги: проста, велика екосистема бібліотек, висока швидкість розробки, підтримка наукових обчислень.</a:t>
            </a:r>
            <a:endParaRPr b="0" i="0" sz="850" u="none" cap="none" strike="noStrike"/>
          </a:p>
        </p:txBody>
      </p:sp>
      <p:sp>
        <p:nvSpPr>
          <p:cNvPr id="242" name="Google Shape;242;p22"/>
          <p:cNvSpPr/>
          <p:nvPr/>
        </p:nvSpPr>
        <p:spPr>
          <a:xfrm>
            <a:off x="3602534" y="1416546"/>
            <a:ext cx="2279526" cy="327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OpenCV + NumPy — комп'ютерний зір</a:t>
            </a:r>
            <a:endParaRPr b="0" i="0" sz="1000" u="none" cap="none" strike="noStrike"/>
          </a:p>
        </p:txBody>
      </p:sp>
      <p:sp>
        <p:nvSpPr>
          <p:cNvPr id="243" name="Google Shape;243;p22"/>
          <p:cNvSpPr/>
          <p:nvPr/>
        </p:nvSpPr>
        <p:spPr>
          <a:xfrm>
            <a:off x="3602534" y="1800374"/>
            <a:ext cx="2279526" cy="1316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OpenCV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основний інструмент для аналізу зображень: фільтрація, перетворення кольорів, детекція контурів, Canny, HoughLinesP. </a:t>
            </a: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NumPy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робота з масивами пікселів, математичні операції. Разом реалізують весь pipeline обробки лінз від завантаження до виявлення дефектів.</a:t>
            </a:r>
            <a:endParaRPr b="0" i="0" sz="850" u="none" cap="none" strike="noStrike"/>
          </a:p>
        </p:txBody>
      </p:sp>
      <p:sp>
        <p:nvSpPr>
          <p:cNvPr id="244" name="Google Shape;244;p22"/>
          <p:cNvSpPr/>
          <p:nvPr/>
        </p:nvSpPr>
        <p:spPr>
          <a:xfrm>
            <a:off x="6340897" y="1416546"/>
            <a:ext cx="2279526" cy="327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PySide6 (Qt for Python) — графічний інтерфейс</a:t>
            </a:r>
            <a:endParaRPr b="0" i="0" sz="1000" u="none" cap="none" strike="noStrike"/>
          </a:p>
        </p:txBody>
      </p:sp>
      <p:sp>
        <p:nvSpPr>
          <p:cNvPr id="245" name="Google Shape;245;p22"/>
          <p:cNvSpPr/>
          <p:nvPr/>
        </p:nvSpPr>
        <p:spPr>
          <a:xfrm>
            <a:off x="6340897" y="1800374"/>
            <a:ext cx="2279526" cy="115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Створення desktop GUI-застосунку: багатовкладковий інтерфейс для відображення етапів обробки, сигнали/слоти для взаємодії потоків (моніторинг + UI). Переваги: сучасний вигляд, стабільність, підтримка складних інтерактивних систем.</a:t>
            </a:r>
            <a:endParaRPr b="0" i="0" sz="850" u="none" cap="none" strike="noStrike"/>
          </a:p>
        </p:txBody>
      </p:sp>
      <p:sp>
        <p:nvSpPr>
          <p:cNvPr id="246" name="Google Shape;246;p22"/>
          <p:cNvSpPr/>
          <p:nvPr/>
        </p:nvSpPr>
        <p:spPr>
          <a:xfrm>
            <a:off x="864245" y="3344614"/>
            <a:ext cx="2279452" cy="3271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ReportLab — генерація PDF-звітів</a:t>
            </a:r>
            <a:endParaRPr b="0" i="0" sz="1000" u="none" cap="none" strike="noStrike"/>
          </a:p>
        </p:txBody>
      </p:sp>
      <p:sp>
        <p:nvSpPr>
          <p:cNvPr id="247" name="Google Shape;247;p22"/>
          <p:cNvSpPr/>
          <p:nvPr/>
        </p:nvSpPr>
        <p:spPr>
          <a:xfrm>
            <a:off x="864245" y="3728442"/>
            <a:ext cx="2279452" cy="823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Автоматичне формування документації результатів аналізу. Включає зображення етапів обробки, статистику дефектів, дату, час та статус перевірки. Забезпечує повну звітність без участі оператора.</a:t>
            </a:r>
            <a:endParaRPr b="0" i="0" sz="850" u="none" cap="none" strike="noStrike"/>
          </a:p>
        </p:txBody>
      </p:sp>
      <p:sp>
        <p:nvSpPr>
          <p:cNvPr id="248" name="Google Shape;248;p22"/>
          <p:cNvSpPr/>
          <p:nvPr/>
        </p:nvSpPr>
        <p:spPr>
          <a:xfrm>
            <a:off x="3602534" y="3344614"/>
            <a:ext cx="2203326" cy="163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Syne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OS / pathlib / Threading / Math</a:t>
            </a:r>
            <a:endParaRPr b="0" i="0" sz="1000" u="none" cap="none" strike="noStrike"/>
          </a:p>
        </p:txBody>
      </p:sp>
      <p:sp>
        <p:nvSpPr>
          <p:cNvPr id="249" name="Google Shape;249;p22"/>
          <p:cNvSpPr/>
          <p:nvPr/>
        </p:nvSpPr>
        <p:spPr>
          <a:xfrm>
            <a:off x="3602534" y="3564880"/>
            <a:ext cx="2279526" cy="1152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50"/>
              <a:buFont typeface="Arimo"/>
              <a:buNone/>
            </a:pP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OS / pathlib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робота з файловою системою, моніторинг директорій (incoming, processed, defects). </a:t>
            </a: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QThread / Threading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реалізація фонової обробки без блокування UI. </a:t>
            </a:r>
            <a:r>
              <a:rPr b="1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Math</a:t>
            </a:r>
            <a:r>
              <a:rPr b="0" i="0" lang="en-US" sz="8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геометричні обчислення (радіуси, кути, параметри еліпсів).</a:t>
            </a:r>
            <a:endParaRPr b="0" i="0" sz="850" u="none" cap="none" strike="noStrike"/>
          </a:p>
        </p:txBody>
      </p:sp>
      <p:sp>
        <p:nvSpPr>
          <p:cNvPr id="250" name="Google Shape;250;p22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3"/>
          <p:cNvSpPr/>
          <p:nvPr/>
        </p:nvSpPr>
        <p:spPr>
          <a:xfrm>
            <a:off x="515392" y="360090"/>
            <a:ext cx="4611812" cy="2463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50"/>
              <a:buFont typeface="Syne"/>
              <a:buNone/>
            </a:pPr>
            <a:r>
              <a:rPr b="1" i="0" lang="en-US" sz="15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Інтерфейс та фрагменти коду програми</a:t>
            </a:r>
            <a:endParaRPr b="0" i="0" sz="1550" u="none" cap="none" strike="noStrike"/>
          </a:p>
        </p:txBody>
      </p:sp>
      <p:sp>
        <p:nvSpPr>
          <p:cNvPr id="257" name="Google Shape;257;p23"/>
          <p:cNvSpPr/>
          <p:nvPr/>
        </p:nvSpPr>
        <p:spPr>
          <a:xfrm>
            <a:off x="515392" y="740420"/>
            <a:ext cx="2033364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Графічний інтерфейс системи</a:t>
            </a:r>
            <a:endParaRPr b="0" i="0" sz="750" u="none" cap="none" strike="noStrike"/>
          </a:p>
        </p:txBody>
      </p:sp>
      <p:sp>
        <p:nvSpPr>
          <p:cNvPr id="258" name="Google Shape;258;p23"/>
          <p:cNvSpPr/>
          <p:nvPr/>
        </p:nvSpPr>
        <p:spPr>
          <a:xfrm>
            <a:off x="515392" y="917153"/>
            <a:ext cx="3538538" cy="219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Інтерфейс реалізовано на </a:t>
            </a:r>
            <a:r>
              <a:rPr b="1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PySide6 (Qt Framework)</a:t>
            </a: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 Одновіконна архітектура забезпечує зручність оператора та мінімум дій для виконання аналізу.</a:t>
            </a:r>
            <a:endParaRPr b="0" i="0" sz="650" u="none" cap="none" strike="noStrike"/>
          </a:p>
        </p:txBody>
      </p:sp>
      <p:sp>
        <p:nvSpPr>
          <p:cNvPr id="259" name="Google Shape;259;p23"/>
          <p:cNvSpPr/>
          <p:nvPr/>
        </p:nvSpPr>
        <p:spPr>
          <a:xfrm>
            <a:off x="515392" y="1197248"/>
            <a:ext cx="1742480" cy="673894"/>
          </a:xfrm>
          <a:prstGeom prst="roundRect">
            <a:avLst>
              <a:gd fmla="val 1864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99108" y="1280964"/>
            <a:ext cx="985391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Панель керування</a:t>
            </a:r>
            <a:endParaRPr b="0" i="0" sz="750" u="none" cap="none" strike="noStrike"/>
          </a:p>
        </p:txBody>
      </p:sp>
      <p:sp>
        <p:nvSpPr>
          <p:cNvPr id="261" name="Google Shape;261;p23"/>
          <p:cNvSpPr/>
          <p:nvPr/>
        </p:nvSpPr>
        <p:spPr>
          <a:xfrm>
            <a:off x="599108" y="1457697"/>
            <a:ext cx="1575048" cy="3297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Завантаження зображення, старт/стоп моніторингу, генерація PDF-звіту — в один клік.</a:t>
            </a:r>
            <a:endParaRPr b="0" i="0" sz="650" u="none" cap="none" strike="noStrike"/>
          </a:p>
        </p:txBody>
      </p:sp>
      <p:sp>
        <p:nvSpPr>
          <p:cNvPr id="262" name="Google Shape;262;p23"/>
          <p:cNvSpPr/>
          <p:nvPr/>
        </p:nvSpPr>
        <p:spPr>
          <a:xfrm>
            <a:off x="2311450" y="1197248"/>
            <a:ext cx="1742480" cy="673894"/>
          </a:xfrm>
          <a:prstGeom prst="roundRect">
            <a:avLst>
              <a:gd fmla="val 1864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3"/>
          <p:cNvSpPr/>
          <p:nvPr/>
        </p:nvSpPr>
        <p:spPr>
          <a:xfrm>
            <a:off x="2395165" y="1280964"/>
            <a:ext cx="1087264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Вкладки результатів</a:t>
            </a:r>
            <a:endParaRPr b="0" i="0" sz="750" u="none" cap="none" strike="noStrike"/>
          </a:p>
        </p:txBody>
      </p:sp>
      <p:sp>
        <p:nvSpPr>
          <p:cNvPr id="264" name="Google Shape;264;p23"/>
          <p:cNvSpPr/>
          <p:nvPr/>
        </p:nvSpPr>
        <p:spPr>
          <a:xfrm>
            <a:off x="2379075" y="1447650"/>
            <a:ext cx="1674900" cy="32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Відображення: оригіналу, grayscale-покращення, негативного зображення, результату детекції дефектів.</a:t>
            </a:r>
            <a:endParaRPr b="0" i="0" sz="650" u="none" cap="none" strike="noStrike"/>
          </a:p>
        </p:txBody>
      </p:sp>
      <p:sp>
        <p:nvSpPr>
          <p:cNvPr id="265" name="Google Shape;265;p23"/>
          <p:cNvSpPr/>
          <p:nvPr/>
        </p:nvSpPr>
        <p:spPr>
          <a:xfrm>
            <a:off x="515392" y="1924720"/>
            <a:ext cx="3538538" cy="454075"/>
          </a:xfrm>
          <a:prstGeom prst="roundRect">
            <a:avLst>
              <a:gd fmla="val 2767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3"/>
          <p:cNvSpPr/>
          <p:nvPr/>
        </p:nvSpPr>
        <p:spPr>
          <a:xfrm>
            <a:off x="599108" y="2008436"/>
            <a:ext cx="985391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Панель статусу</a:t>
            </a:r>
            <a:endParaRPr b="0" i="0" sz="750" u="none" cap="none" strike="noStrike"/>
          </a:p>
        </p:txBody>
      </p:sp>
      <p:sp>
        <p:nvSpPr>
          <p:cNvPr id="267" name="Google Shape;267;p23"/>
          <p:cNvSpPr/>
          <p:nvPr/>
        </p:nvSpPr>
        <p:spPr>
          <a:xfrm>
            <a:off x="599108" y="2185169"/>
            <a:ext cx="3371106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Індикація стану аналізу: кількість дефектів, час обробки, статус </a:t>
            </a:r>
            <a:r>
              <a:rPr b="1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OK / DEFECT</a:t>
            </a: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.</a:t>
            </a:r>
            <a:endParaRPr b="0" i="0" sz="650" u="none" cap="none" strike="noStrike"/>
          </a:p>
        </p:txBody>
      </p:sp>
      <p:sp>
        <p:nvSpPr>
          <p:cNvPr id="268" name="Google Shape;268;p23"/>
          <p:cNvSpPr/>
          <p:nvPr/>
        </p:nvSpPr>
        <p:spPr>
          <a:xfrm>
            <a:off x="515392" y="2439070"/>
            <a:ext cx="3538538" cy="384349"/>
          </a:xfrm>
          <a:prstGeom prst="roundRect">
            <a:avLst>
              <a:gd fmla="val 3269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69" name="Google Shape;26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9108" y="2551361"/>
            <a:ext cx="104701" cy="8371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3"/>
          <p:cNvSpPr/>
          <p:nvPr/>
        </p:nvSpPr>
        <p:spPr>
          <a:xfrm>
            <a:off x="787524" y="2513558"/>
            <a:ext cx="3182689" cy="2198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Система працює в реальному часі. Автоматизація без участі оператора — ключова перевага реалізованого рішення. </a:t>
            </a:r>
            <a:endParaRPr b="0" i="0" sz="650" u="none" cap="none" strike="noStrike"/>
          </a:p>
        </p:txBody>
      </p:sp>
      <p:sp>
        <p:nvSpPr>
          <p:cNvPr id="271" name="Google Shape;271;p23"/>
          <p:cNvSpPr/>
          <p:nvPr/>
        </p:nvSpPr>
        <p:spPr>
          <a:xfrm>
            <a:off x="4263033" y="740420"/>
            <a:ext cx="2602929" cy="1231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Syne"/>
              <a:buNone/>
            </a:pPr>
            <a:r>
              <a:rPr b="1" i="0" lang="en-US" sz="75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Фрагменти коду — реалізація алгоритмів</a:t>
            </a:r>
            <a:endParaRPr b="0" i="0" sz="750" u="none" cap="none" strike="noStrike"/>
          </a:p>
        </p:txBody>
      </p:sp>
      <p:sp>
        <p:nvSpPr>
          <p:cNvPr id="272" name="Google Shape;272;p23"/>
          <p:cNvSpPr/>
          <p:nvPr/>
        </p:nvSpPr>
        <p:spPr>
          <a:xfrm>
            <a:off x="4263033" y="917153"/>
            <a:ext cx="4827463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1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Unicode-safe завантаження зображення:</a:t>
            </a:r>
            <a:endParaRPr b="0" i="0" sz="650" u="none" cap="none" strike="noStrike"/>
          </a:p>
        </p:txBody>
      </p:sp>
      <p:sp>
        <p:nvSpPr>
          <p:cNvPr id="273" name="Google Shape;273;p23"/>
          <p:cNvSpPr/>
          <p:nvPr/>
        </p:nvSpPr>
        <p:spPr>
          <a:xfrm>
            <a:off x="4263033" y="1087338"/>
            <a:ext cx="4370263" cy="826889"/>
          </a:xfrm>
          <a:prstGeom prst="roundRect">
            <a:avLst>
              <a:gd fmla="val 1519" name="adj"/>
            </a:avLst>
          </a:prstGeom>
          <a:solidFill>
            <a:srgbClr val="191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3"/>
          <p:cNvSpPr/>
          <p:nvPr/>
        </p:nvSpPr>
        <p:spPr>
          <a:xfrm>
            <a:off x="4258866" y="1087338"/>
            <a:ext cx="4378598" cy="826889"/>
          </a:xfrm>
          <a:prstGeom prst="roundRect">
            <a:avLst>
              <a:gd fmla="val 1519" name="adj"/>
            </a:avLst>
          </a:prstGeom>
          <a:solidFill>
            <a:srgbClr val="191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3"/>
          <p:cNvSpPr/>
          <p:nvPr/>
        </p:nvSpPr>
        <p:spPr>
          <a:xfrm>
            <a:off x="4363566" y="1171054"/>
            <a:ext cx="4169197" cy="6594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79C0FF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@staticmethod</a:t>
            </a:r>
            <a:endParaRPr sz="650">
              <a:solidFill>
                <a:srgbClr val="79C0FF"/>
              </a:solidFill>
              <a:highlight>
                <a:srgbClr val="19174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79C0FF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def load_image_unicode(image_path):</a:t>
            </a:r>
            <a:endParaRPr sz="650">
              <a:solidFill>
                <a:srgbClr val="79C0FF"/>
              </a:solidFill>
              <a:highlight>
                <a:srgbClr val="19174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rgbClr val="79C0FF"/>
              </a:solidFill>
              <a:highlight>
                <a:srgbClr val="19174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79C0FF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    data = np.fromfile(image_path, dtype=np.uint8)</a:t>
            </a:r>
            <a:endParaRPr sz="650">
              <a:solidFill>
                <a:srgbClr val="79C0FF"/>
              </a:solidFill>
              <a:highlight>
                <a:srgbClr val="19174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50">
              <a:solidFill>
                <a:srgbClr val="79C0FF"/>
              </a:solidFill>
              <a:highlight>
                <a:srgbClr val="19174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79C0FF"/>
                </a:solidFill>
                <a:highlight>
                  <a:srgbClr val="191740"/>
                </a:highlight>
                <a:latin typeface="Consolas"/>
                <a:ea typeface="Consolas"/>
                <a:cs typeface="Consolas"/>
                <a:sym typeface="Consolas"/>
              </a:rPr>
              <a:t>    return cv2.imdecode(data, cv2.IMREAD_COLOR)</a:t>
            </a:r>
            <a:endParaRPr sz="650">
              <a:solidFill>
                <a:srgbClr val="79C0FF"/>
              </a:solidFill>
              <a:highlight>
                <a:srgbClr val="191740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79C0FF"/>
              </a:buClr>
              <a:buSzPts val="650"/>
              <a:buFont typeface="Consolas"/>
              <a:buNone/>
            </a:pPr>
            <a:r>
              <a:t/>
            </a:r>
            <a:endParaRPr sz="650">
              <a:solidFill>
                <a:srgbClr val="79C0FF"/>
              </a:solidFill>
              <a:highlight>
                <a:srgbClr val="191740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4263033" y="1974503"/>
            <a:ext cx="4370263" cy="377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Забезпечує коректне завантаження зображень із підтримкою кириличних шляхів та нестандартних символів у файловій системі.</a:t>
            </a:r>
            <a:endParaRPr b="0" i="0" sz="650" u="none" cap="none" strike="noStrike"/>
          </a:p>
          <a:p>
            <a:pPr indent="0" lvl="0" marL="0" marR="0" rtl="0" algn="l">
              <a:lnSpc>
                <a:spcPct val="109000"/>
              </a:lnSpc>
              <a:spcBef>
                <a:spcPts val="35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1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Покращення контрасту (CLAHE):</a:t>
            </a:r>
            <a:endParaRPr b="0" i="0" sz="650" u="none" cap="none" strike="noStrike"/>
          </a:p>
        </p:txBody>
      </p:sp>
      <p:sp>
        <p:nvSpPr>
          <p:cNvPr id="277" name="Google Shape;277;p23"/>
          <p:cNvSpPr/>
          <p:nvPr/>
        </p:nvSpPr>
        <p:spPr>
          <a:xfrm>
            <a:off x="4263033" y="2412727"/>
            <a:ext cx="4370263" cy="936799"/>
          </a:xfrm>
          <a:prstGeom prst="roundRect">
            <a:avLst>
              <a:gd fmla="val 1341" name="adj"/>
            </a:avLst>
          </a:prstGeom>
          <a:solidFill>
            <a:srgbClr val="191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3"/>
          <p:cNvSpPr/>
          <p:nvPr/>
        </p:nvSpPr>
        <p:spPr>
          <a:xfrm>
            <a:off x="4258866" y="2412727"/>
            <a:ext cx="4378598" cy="936799"/>
          </a:xfrm>
          <a:prstGeom prst="roundRect">
            <a:avLst>
              <a:gd fmla="val 1341" name="adj"/>
            </a:avLst>
          </a:prstGeom>
          <a:solidFill>
            <a:srgbClr val="191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3"/>
          <p:cNvSpPr/>
          <p:nvPr/>
        </p:nvSpPr>
        <p:spPr>
          <a:xfrm>
            <a:off x="4363566" y="2496443"/>
            <a:ext cx="4169197" cy="769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@staticmethod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def enhance_contrast(gray):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clahe = cv2.createCLAHE(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    clipLimit=3.0,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    tileGridSize=(8, 8)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)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return clahe.apply(gray)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Consolas"/>
              <a:buNone/>
            </a:pPr>
            <a:r>
              <a:t/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0" name="Google Shape;280;p23"/>
          <p:cNvSpPr/>
          <p:nvPr/>
        </p:nvSpPr>
        <p:spPr>
          <a:xfrm>
            <a:off x="4263033" y="3409801"/>
            <a:ext cx="4370263" cy="2680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Адаптивне підсилення контрасту для покращення видимості мікродефектів поверхні лінзи.</a:t>
            </a:r>
            <a:endParaRPr b="0" i="0" sz="650" u="none" cap="none" strike="noStrike"/>
          </a:p>
          <a:p>
            <a:pPr indent="0" lvl="0" marL="0" marR="0" rtl="0" algn="l">
              <a:lnSpc>
                <a:spcPct val="109000"/>
              </a:lnSpc>
              <a:spcBef>
                <a:spcPts val="35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1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Радіальний аналіз — визначення меж лінзи:</a:t>
            </a:r>
            <a:endParaRPr b="0" i="0" sz="650" u="none" cap="none" strike="noStrike"/>
          </a:p>
        </p:txBody>
      </p:sp>
      <p:sp>
        <p:nvSpPr>
          <p:cNvPr id="281" name="Google Shape;281;p23"/>
          <p:cNvSpPr/>
          <p:nvPr/>
        </p:nvSpPr>
        <p:spPr>
          <a:xfrm>
            <a:off x="4263033" y="3738116"/>
            <a:ext cx="4370263" cy="826889"/>
          </a:xfrm>
          <a:prstGeom prst="roundRect">
            <a:avLst>
              <a:gd fmla="val 1519" name="adj"/>
            </a:avLst>
          </a:prstGeom>
          <a:solidFill>
            <a:srgbClr val="191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23"/>
          <p:cNvSpPr/>
          <p:nvPr/>
        </p:nvSpPr>
        <p:spPr>
          <a:xfrm>
            <a:off x="4258866" y="3738116"/>
            <a:ext cx="4378598" cy="826889"/>
          </a:xfrm>
          <a:prstGeom prst="roundRect">
            <a:avLst>
              <a:gd fmla="val 1519" name="adj"/>
            </a:avLst>
          </a:prstGeom>
          <a:solidFill>
            <a:srgbClr val="1917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3"/>
          <p:cNvSpPr/>
          <p:nvPr/>
        </p:nvSpPr>
        <p:spPr>
          <a:xfrm>
            <a:off x="4363566" y="3905532"/>
            <a:ext cx="4169100" cy="65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for angle in np.linspace(0, 2*np.pi, RAY_COUNT):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for r in range(20, max_radius):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    gradient = abs(value - prev)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    if gradient &gt; EDGE_THRESHOLD: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650">
                <a:solidFill>
                  <a:srgbClr val="D9E1FF"/>
                </a:solidFill>
                <a:latin typeface="Consolas"/>
                <a:ea typeface="Consolas"/>
                <a:cs typeface="Consolas"/>
                <a:sym typeface="Consolas"/>
              </a:rPr>
              <a:t>            points.append(best_point)</a:t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Consolas"/>
              <a:buNone/>
            </a:pPr>
            <a:r>
              <a:t/>
            </a:r>
            <a:endParaRPr sz="650">
              <a:solidFill>
                <a:srgbClr val="D9E1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84" name="Google Shape;284;p23"/>
          <p:cNvSpPr/>
          <p:nvPr/>
        </p:nvSpPr>
        <p:spPr>
          <a:xfrm>
            <a:off x="4263033" y="4625280"/>
            <a:ext cx="4827463" cy="109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50"/>
              <a:buFont typeface="Arimo"/>
              <a:buNone/>
            </a:pPr>
            <a:r>
              <a:rPr b="0" i="0" lang="en-US" sz="65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Сканування по променях 0–360° для виявлення меж лінзи та аномалій поверхні за градієнтом яскравості.</a:t>
            </a:r>
            <a:endParaRPr b="0" i="0" sz="650" u="none" cap="none" strike="noStrike"/>
          </a:p>
        </p:txBody>
      </p:sp>
      <p:sp>
        <p:nvSpPr>
          <p:cNvPr id="285" name="Google Shape;285;p23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6" name="Google Shape;28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5400" y="2951850"/>
            <a:ext cx="3538526" cy="1895568"/>
          </a:xfrm>
          <a:prstGeom prst="rect">
            <a:avLst/>
          </a:prstGeom>
          <a:noFill/>
          <a:ln cap="flat" cmpd="sng" w="9525">
            <a:solidFill>
              <a:srgbClr val="79C0FF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4"/>
          <p:cNvSpPr/>
          <p:nvPr/>
        </p:nvSpPr>
        <p:spPr>
          <a:xfrm>
            <a:off x="499095" y="397520"/>
            <a:ext cx="4007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yne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Р</a:t>
            </a:r>
            <a:r>
              <a:rPr b="1" lang="en-US" sz="1500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езультати тестування системи</a:t>
            </a:r>
            <a:endParaRPr b="0" i="0" sz="1500" u="none" cap="none" strike="noStrike"/>
          </a:p>
        </p:txBody>
      </p:sp>
      <p:sp>
        <p:nvSpPr>
          <p:cNvPr id="293" name="Google Shape;293;p24"/>
          <p:cNvSpPr/>
          <p:nvPr/>
        </p:nvSpPr>
        <p:spPr>
          <a:xfrm>
            <a:off x="499095" y="736476"/>
            <a:ext cx="8145900" cy="21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Проведено тестування програмної системи на наборі із 12 зображень оптичних лінз. Для кожного зразка визначалась наявність лінзи, кількість виявлених дефектів, час виконання аналізу та підсумковий результат класифікації.</a:t>
            </a:r>
            <a:endParaRPr b="0" i="0" sz="1000" u="none" cap="none" strike="noStrike"/>
          </a:p>
        </p:txBody>
      </p:sp>
      <p:sp>
        <p:nvSpPr>
          <p:cNvPr id="294" name="Google Shape;294;p24"/>
          <p:cNvSpPr/>
          <p:nvPr/>
        </p:nvSpPr>
        <p:spPr>
          <a:xfrm>
            <a:off x="319668" y="1279339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Зображення</a:t>
            </a:r>
            <a:endParaRPr b="1" i="0" sz="1000" u="none" cap="none" strike="noStrike"/>
          </a:p>
        </p:txBody>
      </p:sp>
      <p:sp>
        <p:nvSpPr>
          <p:cNvPr id="295" name="Google Shape;295;p24"/>
          <p:cNvSpPr/>
          <p:nvPr/>
        </p:nvSpPr>
        <p:spPr>
          <a:xfrm>
            <a:off x="1949261" y="1279339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Лінза виявлена</a:t>
            </a:r>
            <a:endParaRPr b="1" i="0" sz="1000" u="none" cap="none" strike="noStrike"/>
          </a:p>
        </p:txBody>
      </p:sp>
      <p:sp>
        <p:nvSpPr>
          <p:cNvPr id="296" name="Google Shape;296;p24"/>
          <p:cNvSpPr/>
          <p:nvPr/>
        </p:nvSpPr>
        <p:spPr>
          <a:xfrm>
            <a:off x="3576474" y="1279339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Кількість дефектів</a:t>
            </a:r>
            <a:endParaRPr b="1" i="0" sz="1000" u="none" cap="none" strike="noStrike"/>
          </a:p>
        </p:txBody>
      </p:sp>
      <p:sp>
        <p:nvSpPr>
          <p:cNvPr id="297" name="Google Shape;297;p24"/>
          <p:cNvSpPr/>
          <p:nvPr/>
        </p:nvSpPr>
        <p:spPr>
          <a:xfrm>
            <a:off x="5203686" y="1279339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Час обробки, с</a:t>
            </a:r>
            <a:endParaRPr b="1" i="0" sz="1000" u="none" cap="none" strike="noStrike"/>
          </a:p>
        </p:txBody>
      </p:sp>
      <p:sp>
        <p:nvSpPr>
          <p:cNvPr id="298" name="Google Shape;298;p24"/>
          <p:cNvSpPr/>
          <p:nvPr/>
        </p:nvSpPr>
        <p:spPr>
          <a:xfrm>
            <a:off x="6830898" y="1279339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1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Результат класифікації</a:t>
            </a:r>
            <a:endParaRPr b="1" i="0" sz="1000" u="none" cap="none" strike="noStrike"/>
          </a:p>
        </p:txBody>
      </p:sp>
      <p:sp>
        <p:nvSpPr>
          <p:cNvPr id="299" name="Google Shape;299;p24"/>
          <p:cNvSpPr/>
          <p:nvPr/>
        </p:nvSpPr>
        <p:spPr>
          <a:xfrm>
            <a:off x="320668" y="1504425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1</a:t>
            </a:r>
            <a:endParaRPr b="0" i="0" sz="1000" u="none" cap="none" strike="noStrike"/>
          </a:p>
        </p:txBody>
      </p:sp>
      <p:sp>
        <p:nvSpPr>
          <p:cNvPr id="300" name="Google Shape;300;p24"/>
          <p:cNvSpPr/>
          <p:nvPr/>
        </p:nvSpPr>
        <p:spPr>
          <a:xfrm>
            <a:off x="1950261" y="1504425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01" name="Google Shape;301;p24"/>
          <p:cNvSpPr/>
          <p:nvPr/>
        </p:nvSpPr>
        <p:spPr>
          <a:xfrm>
            <a:off x="3577474" y="1504425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32</a:t>
            </a:r>
            <a:endParaRPr b="0" i="0" sz="1000" u="none" cap="none" strike="noStrike"/>
          </a:p>
        </p:txBody>
      </p:sp>
      <p:sp>
        <p:nvSpPr>
          <p:cNvPr id="302" name="Google Shape;302;p24"/>
          <p:cNvSpPr/>
          <p:nvPr/>
        </p:nvSpPr>
        <p:spPr>
          <a:xfrm>
            <a:off x="5204686" y="1504425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0.105</a:t>
            </a:r>
            <a:endParaRPr b="0" i="0" sz="1000" u="none" cap="none" strike="noStrike"/>
          </a:p>
        </p:txBody>
      </p:sp>
      <p:sp>
        <p:nvSpPr>
          <p:cNvPr id="303" name="Google Shape;303;p24"/>
          <p:cNvSpPr/>
          <p:nvPr/>
        </p:nvSpPr>
        <p:spPr>
          <a:xfrm>
            <a:off x="6831898" y="1504425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04" name="Google Shape;304;p24"/>
          <p:cNvSpPr/>
          <p:nvPr/>
        </p:nvSpPr>
        <p:spPr>
          <a:xfrm>
            <a:off x="320668" y="1684060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2</a:t>
            </a:r>
            <a:endParaRPr b="0" i="0" sz="1000" u="none" cap="none" strike="noStrike"/>
          </a:p>
        </p:txBody>
      </p:sp>
      <p:sp>
        <p:nvSpPr>
          <p:cNvPr id="305" name="Google Shape;305;p24"/>
          <p:cNvSpPr/>
          <p:nvPr/>
        </p:nvSpPr>
        <p:spPr>
          <a:xfrm>
            <a:off x="1950261" y="1684060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06" name="Google Shape;306;p24"/>
          <p:cNvSpPr/>
          <p:nvPr/>
        </p:nvSpPr>
        <p:spPr>
          <a:xfrm>
            <a:off x="3577474" y="1684060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endParaRPr b="0" i="0" sz="1000" u="none" cap="none" strike="noStrike"/>
          </a:p>
        </p:txBody>
      </p:sp>
      <p:sp>
        <p:nvSpPr>
          <p:cNvPr id="307" name="Google Shape;307;p24"/>
          <p:cNvSpPr/>
          <p:nvPr/>
        </p:nvSpPr>
        <p:spPr>
          <a:xfrm>
            <a:off x="5204686" y="1684060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0.094</a:t>
            </a:r>
            <a:endParaRPr b="0" i="0" sz="1000" u="none" cap="none" strike="noStrike"/>
          </a:p>
        </p:txBody>
      </p:sp>
      <p:sp>
        <p:nvSpPr>
          <p:cNvPr id="308" name="Google Shape;308;p24"/>
          <p:cNvSpPr/>
          <p:nvPr/>
        </p:nvSpPr>
        <p:spPr>
          <a:xfrm>
            <a:off x="6831898" y="1684060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00FF00"/>
                </a:solidFill>
                <a:latin typeface="Arimo"/>
                <a:ea typeface="Arimo"/>
                <a:cs typeface="Arimo"/>
                <a:sym typeface="Arimo"/>
              </a:rPr>
              <a:t>Придатна</a:t>
            </a:r>
            <a:endParaRPr b="0" i="0" sz="1000" u="none" cap="none" strike="noStrike">
              <a:solidFill>
                <a:srgbClr val="00FF00"/>
              </a:solidFill>
            </a:endParaRPr>
          </a:p>
        </p:txBody>
      </p:sp>
      <p:sp>
        <p:nvSpPr>
          <p:cNvPr id="309" name="Google Shape;309;p24"/>
          <p:cNvSpPr/>
          <p:nvPr/>
        </p:nvSpPr>
        <p:spPr>
          <a:xfrm>
            <a:off x="320668" y="1863696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3</a:t>
            </a:r>
            <a:endParaRPr b="0" i="0" sz="1000" u="none" cap="none" strike="noStrike"/>
          </a:p>
        </p:txBody>
      </p:sp>
      <p:sp>
        <p:nvSpPr>
          <p:cNvPr id="310" name="Google Shape;310;p24"/>
          <p:cNvSpPr/>
          <p:nvPr/>
        </p:nvSpPr>
        <p:spPr>
          <a:xfrm>
            <a:off x="1950261" y="1863696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11" name="Google Shape;311;p24"/>
          <p:cNvSpPr/>
          <p:nvPr/>
        </p:nvSpPr>
        <p:spPr>
          <a:xfrm>
            <a:off x="3577474" y="1863696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endParaRPr b="0" i="0" sz="1000" u="none" cap="none" strike="noStrike"/>
          </a:p>
        </p:txBody>
      </p:sp>
      <p:sp>
        <p:nvSpPr>
          <p:cNvPr id="312" name="Google Shape;312;p24"/>
          <p:cNvSpPr/>
          <p:nvPr/>
        </p:nvSpPr>
        <p:spPr>
          <a:xfrm>
            <a:off x="5204686" y="1863696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0.093</a:t>
            </a:r>
            <a:endParaRPr b="0" i="0" sz="1000" u="none" cap="none" strike="noStrike"/>
          </a:p>
        </p:txBody>
      </p:sp>
      <p:sp>
        <p:nvSpPr>
          <p:cNvPr id="313" name="Google Shape;313;p24"/>
          <p:cNvSpPr/>
          <p:nvPr/>
        </p:nvSpPr>
        <p:spPr>
          <a:xfrm>
            <a:off x="6831898" y="1863696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00FF00"/>
                </a:solidFill>
                <a:latin typeface="Arimo"/>
                <a:ea typeface="Arimo"/>
                <a:cs typeface="Arimo"/>
                <a:sym typeface="Arimo"/>
              </a:rPr>
              <a:t>Придатна</a:t>
            </a:r>
            <a:endParaRPr b="0" i="0" sz="1000" u="none" cap="none" strike="noStrike">
              <a:solidFill>
                <a:srgbClr val="00FF00"/>
              </a:solidFill>
            </a:endParaRPr>
          </a:p>
        </p:txBody>
      </p:sp>
      <p:sp>
        <p:nvSpPr>
          <p:cNvPr id="314" name="Google Shape;314;p24"/>
          <p:cNvSpPr/>
          <p:nvPr/>
        </p:nvSpPr>
        <p:spPr>
          <a:xfrm>
            <a:off x="320668" y="2043331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4</a:t>
            </a:r>
            <a:endParaRPr b="0" i="0" sz="1000" u="none" cap="none" strike="noStrike"/>
          </a:p>
        </p:txBody>
      </p:sp>
      <p:sp>
        <p:nvSpPr>
          <p:cNvPr id="315" name="Google Shape;315;p24"/>
          <p:cNvSpPr/>
          <p:nvPr/>
        </p:nvSpPr>
        <p:spPr>
          <a:xfrm>
            <a:off x="1950261" y="2043331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16" name="Google Shape;316;p24"/>
          <p:cNvSpPr/>
          <p:nvPr/>
        </p:nvSpPr>
        <p:spPr>
          <a:xfrm>
            <a:off x="3577474" y="2043331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65</a:t>
            </a:r>
            <a:endParaRPr b="0" i="0" sz="1000" u="none" cap="none" strike="noStrike"/>
          </a:p>
        </p:txBody>
      </p:sp>
      <p:sp>
        <p:nvSpPr>
          <p:cNvPr id="317" name="Google Shape;317;p24"/>
          <p:cNvSpPr/>
          <p:nvPr/>
        </p:nvSpPr>
        <p:spPr>
          <a:xfrm>
            <a:off x="5204686" y="2043331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0.075</a:t>
            </a:r>
            <a:endParaRPr b="0" i="0" sz="1000" u="none" cap="none" strike="noStrike"/>
          </a:p>
        </p:txBody>
      </p:sp>
      <p:sp>
        <p:nvSpPr>
          <p:cNvPr id="318" name="Google Shape;318;p24"/>
          <p:cNvSpPr/>
          <p:nvPr/>
        </p:nvSpPr>
        <p:spPr>
          <a:xfrm>
            <a:off x="6831898" y="2043331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19" name="Google Shape;319;p24"/>
          <p:cNvSpPr/>
          <p:nvPr/>
        </p:nvSpPr>
        <p:spPr>
          <a:xfrm>
            <a:off x="320668" y="2222967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5</a:t>
            </a:r>
            <a:endParaRPr b="0" i="0" sz="1000" u="none" cap="none" strike="noStrike"/>
          </a:p>
        </p:txBody>
      </p:sp>
      <p:sp>
        <p:nvSpPr>
          <p:cNvPr id="320" name="Google Shape;320;p24"/>
          <p:cNvSpPr/>
          <p:nvPr/>
        </p:nvSpPr>
        <p:spPr>
          <a:xfrm>
            <a:off x="1950261" y="2222967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21" name="Google Shape;321;p24"/>
          <p:cNvSpPr/>
          <p:nvPr/>
        </p:nvSpPr>
        <p:spPr>
          <a:xfrm>
            <a:off x="3577474" y="2222967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1</a:t>
            </a:r>
            <a:endParaRPr b="0" i="0" sz="1000" u="none" cap="none" strike="noStrike"/>
          </a:p>
        </p:txBody>
      </p:sp>
      <p:sp>
        <p:nvSpPr>
          <p:cNvPr id="322" name="Google Shape;322;p24"/>
          <p:cNvSpPr/>
          <p:nvPr/>
        </p:nvSpPr>
        <p:spPr>
          <a:xfrm>
            <a:off x="5204686" y="2222967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0.065</a:t>
            </a:r>
            <a:endParaRPr b="0" i="0" sz="1000" u="none" cap="none" strike="noStrike"/>
          </a:p>
        </p:txBody>
      </p:sp>
      <p:sp>
        <p:nvSpPr>
          <p:cNvPr id="323" name="Google Shape;323;p24"/>
          <p:cNvSpPr/>
          <p:nvPr/>
        </p:nvSpPr>
        <p:spPr>
          <a:xfrm>
            <a:off x="6831898" y="2222967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24" name="Google Shape;324;p24"/>
          <p:cNvSpPr/>
          <p:nvPr/>
        </p:nvSpPr>
        <p:spPr>
          <a:xfrm>
            <a:off x="320668" y="2402603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6</a:t>
            </a:r>
            <a:endParaRPr b="0" i="0" sz="1000" u="none" cap="none" strike="noStrike"/>
          </a:p>
        </p:txBody>
      </p:sp>
      <p:sp>
        <p:nvSpPr>
          <p:cNvPr id="325" name="Google Shape;325;p24"/>
          <p:cNvSpPr/>
          <p:nvPr/>
        </p:nvSpPr>
        <p:spPr>
          <a:xfrm>
            <a:off x="1950261" y="2402603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26" name="Google Shape;326;p24"/>
          <p:cNvSpPr/>
          <p:nvPr/>
        </p:nvSpPr>
        <p:spPr>
          <a:xfrm>
            <a:off x="3577474" y="2402603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4</a:t>
            </a:r>
            <a:endParaRPr b="0" i="0" sz="1000" u="none" cap="none" strike="noStrike"/>
          </a:p>
        </p:txBody>
      </p:sp>
      <p:sp>
        <p:nvSpPr>
          <p:cNvPr id="327" name="Google Shape;327;p24"/>
          <p:cNvSpPr/>
          <p:nvPr/>
        </p:nvSpPr>
        <p:spPr>
          <a:xfrm>
            <a:off x="5204686" y="2402603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0.072</a:t>
            </a:r>
            <a:endParaRPr b="0" i="0" sz="1000" u="none" cap="none" strike="noStrike"/>
          </a:p>
        </p:txBody>
      </p:sp>
      <p:sp>
        <p:nvSpPr>
          <p:cNvPr id="328" name="Google Shape;328;p24"/>
          <p:cNvSpPr/>
          <p:nvPr/>
        </p:nvSpPr>
        <p:spPr>
          <a:xfrm>
            <a:off x="6831898" y="2402603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29" name="Google Shape;329;p24"/>
          <p:cNvSpPr/>
          <p:nvPr/>
        </p:nvSpPr>
        <p:spPr>
          <a:xfrm>
            <a:off x="320668" y="2582238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7</a:t>
            </a:r>
            <a:endParaRPr b="0" i="0" sz="1000" u="none" cap="none" strike="noStrike"/>
          </a:p>
        </p:txBody>
      </p:sp>
      <p:sp>
        <p:nvSpPr>
          <p:cNvPr id="330" name="Google Shape;330;p24"/>
          <p:cNvSpPr/>
          <p:nvPr/>
        </p:nvSpPr>
        <p:spPr>
          <a:xfrm>
            <a:off x="1950261" y="2582238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31" name="Google Shape;331;p24"/>
          <p:cNvSpPr/>
          <p:nvPr/>
        </p:nvSpPr>
        <p:spPr>
          <a:xfrm>
            <a:off x="3577474" y="2582238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73</a:t>
            </a:r>
            <a:endParaRPr b="0" i="0" sz="1000" u="none" cap="none" strike="noStrike"/>
          </a:p>
        </p:txBody>
      </p:sp>
      <p:sp>
        <p:nvSpPr>
          <p:cNvPr id="332" name="Google Shape;332;p24"/>
          <p:cNvSpPr/>
          <p:nvPr/>
        </p:nvSpPr>
        <p:spPr>
          <a:xfrm>
            <a:off x="5204686" y="2582238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0.080</a:t>
            </a:r>
            <a:endParaRPr b="0" i="0" sz="1000" u="none" cap="none" strike="noStrike"/>
          </a:p>
        </p:txBody>
      </p:sp>
      <p:sp>
        <p:nvSpPr>
          <p:cNvPr id="333" name="Google Shape;333;p24"/>
          <p:cNvSpPr/>
          <p:nvPr/>
        </p:nvSpPr>
        <p:spPr>
          <a:xfrm>
            <a:off x="6831898" y="2582238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34" name="Google Shape;334;p24"/>
          <p:cNvSpPr/>
          <p:nvPr/>
        </p:nvSpPr>
        <p:spPr>
          <a:xfrm>
            <a:off x="320668" y="2761874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8</a:t>
            </a:r>
            <a:endParaRPr b="0" i="0" sz="1000" u="none" cap="none" strike="noStrike"/>
          </a:p>
        </p:txBody>
      </p:sp>
      <p:sp>
        <p:nvSpPr>
          <p:cNvPr id="335" name="Google Shape;335;p24"/>
          <p:cNvSpPr/>
          <p:nvPr/>
        </p:nvSpPr>
        <p:spPr>
          <a:xfrm>
            <a:off x="1950261" y="2761874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36" name="Google Shape;336;p24"/>
          <p:cNvSpPr/>
          <p:nvPr/>
        </p:nvSpPr>
        <p:spPr>
          <a:xfrm>
            <a:off x="3577474" y="2761874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99</a:t>
            </a:r>
            <a:endParaRPr b="0" i="0" sz="1000" u="none" cap="none" strike="noStrike"/>
          </a:p>
        </p:txBody>
      </p:sp>
      <p:sp>
        <p:nvSpPr>
          <p:cNvPr id="337" name="Google Shape;337;p24"/>
          <p:cNvSpPr/>
          <p:nvPr/>
        </p:nvSpPr>
        <p:spPr>
          <a:xfrm>
            <a:off x="5204686" y="2761874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0.093</a:t>
            </a:r>
            <a:endParaRPr b="0" i="0" sz="1000" u="none" cap="none" strike="noStrike"/>
          </a:p>
        </p:txBody>
      </p:sp>
      <p:sp>
        <p:nvSpPr>
          <p:cNvPr id="338" name="Google Shape;338;p24"/>
          <p:cNvSpPr/>
          <p:nvPr/>
        </p:nvSpPr>
        <p:spPr>
          <a:xfrm>
            <a:off x="6831898" y="2761874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39" name="Google Shape;339;p24"/>
          <p:cNvSpPr/>
          <p:nvPr/>
        </p:nvSpPr>
        <p:spPr>
          <a:xfrm>
            <a:off x="320668" y="2941509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9</a:t>
            </a:r>
            <a:endParaRPr b="0" i="0" sz="1000" u="none" cap="none" strike="noStrike"/>
          </a:p>
        </p:txBody>
      </p:sp>
      <p:sp>
        <p:nvSpPr>
          <p:cNvPr id="340" name="Google Shape;340;p24"/>
          <p:cNvSpPr/>
          <p:nvPr/>
        </p:nvSpPr>
        <p:spPr>
          <a:xfrm>
            <a:off x="1950261" y="2941509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41" name="Google Shape;341;p24"/>
          <p:cNvSpPr/>
          <p:nvPr/>
        </p:nvSpPr>
        <p:spPr>
          <a:xfrm>
            <a:off x="3577474" y="2941509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45</a:t>
            </a:r>
            <a:endParaRPr b="0" i="0" sz="1000" u="none" cap="none" strike="noStrike"/>
          </a:p>
        </p:txBody>
      </p:sp>
      <p:sp>
        <p:nvSpPr>
          <p:cNvPr id="342" name="Google Shape;342;p24"/>
          <p:cNvSpPr/>
          <p:nvPr/>
        </p:nvSpPr>
        <p:spPr>
          <a:xfrm>
            <a:off x="5204686" y="2941509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0.061</a:t>
            </a:r>
            <a:endParaRPr b="0" i="0" sz="1000" u="none" cap="none" strike="noStrike"/>
          </a:p>
        </p:txBody>
      </p:sp>
      <p:sp>
        <p:nvSpPr>
          <p:cNvPr id="343" name="Google Shape;343;p24"/>
          <p:cNvSpPr/>
          <p:nvPr/>
        </p:nvSpPr>
        <p:spPr>
          <a:xfrm>
            <a:off x="6831898" y="2941509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44" name="Google Shape;344;p24"/>
          <p:cNvSpPr/>
          <p:nvPr/>
        </p:nvSpPr>
        <p:spPr>
          <a:xfrm>
            <a:off x="320668" y="3121145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10</a:t>
            </a:r>
            <a:endParaRPr b="0" i="0" sz="1000" u="none" cap="none" strike="noStrike"/>
          </a:p>
        </p:txBody>
      </p:sp>
      <p:sp>
        <p:nvSpPr>
          <p:cNvPr id="345" name="Google Shape;345;p24"/>
          <p:cNvSpPr/>
          <p:nvPr/>
        </p:nvSpPr>
        <p:spPr>
          <a:xfrm>
            <a:off x="1950261" y="3121145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46" name="Google Shape;346;p24"/>
          <p:cNvSpPr/>
          <p:nvPr/>
        </p:nvSpPr>
        <p:spPr>
          <a:xfrm>
            <a:off x="3577474" y="3121145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</a:t>
            </a:r>
            <a:endParaRPr b="0" i="0" sz="1000" u="none" cap="none" strike="noStrike"/>
          </a:p>
        </p:txBody>
      </p:sp>
      <p:sp>
        <p:nvSpPr>
          <p:cNvPr id="347" name="Google Shape;347;p24"/>
          <p:cNvSpPr/>
          <p:nvPr/>
        </p:nvSpPr>
        <p:spPr>
          <a:xfrm>
            <a:off x="5204686" y="3121145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0.054</a:t>
            </a:r>
            <a:endParaRPr b="0" i="0" sz="1000" u="none" cap="none" strike="noStrike"/>
          </a:p>
        </p:txBody>
      </p:sp>
      <p:sp>
        <p:nvSpPr>
          <p:cNvPr id="348" name="Google Shape;348;p24"/>
          <p:cNvSpPr/>
          <p:nvPr/>
        </p:nvSpPr>
        <p:spPr>
          <a:xfrm>
            <a:off x="6831898" y="3121145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008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00FF00"/>
                </a:solidFill>
                <a:latin typeface="Arimo"/>
                <a:ea typeface="Arimo"/>
                <a:cs typeface="Arimo"/>
                <a:sym typeface="Arimo"/>
              </a:rPr>
              <a:t>Придатна</a:t>
            </a:r>
            <a:endParaRPr b="0" i="0" sz="1000" u="none" cap="none" strike="noStrike">
              <a:solidFill>
                <a:srgbClr val="00FF00"/>
              </a:solidFill>
            </a:endParaRPr>
          </a:p>
        </p:txBody>
      </p:sp>
      <p:sp>
        <p:nvSpPr>
          <p:cNvPr id="349" name="Google Shape;349;p24"/>
          <p:cNvSpPr/>
          <p:nvPr/>
        </p:nvSpPr>
        <p:spPr>
          <a:xfrm>
            <a:off x="320668" y="3300780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11</a:t>
            </a:r>
            <a:endParaRPr b="0" i="0" sz="1000" u="none" cap="none" strike="noStrike"/>
          </a:p>
        </p:txBody>
      </p:sp>
      <p:sp>
        <p:nvSpPr>
          <p:cNvPr id="350" name="Google Shape;350;p24"/>
          <p:cNvSpPr/>
          <p:nvPr/>
        </p:nvSpPr>
        <p:spPr>
          <a:xfrm>
            <a:off x="1950261" y="3300780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51" name="Google Shape;351;p24"/>
          <p:cNvSpPr/>
          <p:nvPr/>
        </p:nvSpPr>
        <p:spPr>
          <a:xfrm>
            <a:off x="3577474" y="3300780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23</a:t>
            </a:r>
            <a:endParaRPr b="0" i="0" sz="1000" u="none" cap="none" strike="noStrike"/>
          </a:p>
        </p:txBody>
      </p:sp>
      <p:sp>
        <p:nvSpPr>
          <p:cNvPr id="352" name="Google Shape;352;p24"/>
          <p:cNvSpPr/>
          <p:nvPr/>
        </p:nvSpPr>
        <p:spPr>
          <a:xfrm>
            <a:off x="5204686" y="3300780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0.056</a:t>
            </a:r>
            <a:endParaRPr b="0" i="0" sz="1000" u="none" cap="none" strike="noStrike"/>
          </a:p>
        </p:txBody>
      </p:sp>
      <p:sp>
        <p:nvSpPr>
          <p:cNvPr id="353" name="Google Shape;353;p24"/>
          <p:cNvSpPr/>
          <p:nvPr/>
        </p:nvSpPr>
        <p:spPr>
          <a:xfrm>
            <a:off x="6831898" y="3300780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54" name="Google Shape;354;p24"/>
          <p:cNvSpPr/>
          <p:nvPr/>
        </p:nvSpPr>
        <p:spPr>
          <a:xfrm>
            <a:off x="320668" y="3480416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lens 12</a:t>
            </a:r>
            <a:endParaRPr b="0" i="0" sz="1000" u="none" cap="none" strike="noStrike"/>
          </a:p>
        </p:txBody>
      </p:sp>
      <p:sp>
        <p:nvSpPr>
          <p:cNvPr id="355" name="Google Shape;355;p24"/>
          <p:cNvSpPr/>
          <p:nvPr/>
        </p:nvSpPr>
        <p:spPr>
          <a:xfrm>
            <a:off x="1950261" y="3480416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Так</a:t>
            </a:r>
            <a:endParaRPr b="0" i="0" sz="1000" u="none" cap="none" strike="noStrike"/>
          </a:p>
        </p:txBody>
      </p:sp>
      <p:sp>
        <p:nvSpPr>
          <p:cNvPr id="356" name="Google Shape;356;p24"/>
          <p:cNvSpPr/>
          <p:nvPr/>
        </p:nvSpPr>
        <p:spPr>
          <a:xfrm>
            <a:off x="3577474" y="3480416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66</a:t>
            </a:r>
            <a:endParaRPr b="0" i="0" sz="1000" u="none" cap="none" strike="noStrike"/>
          </a:p>
        </p:txBody>
      </p:sp>
      <p:sp>
        <p:nvSpPr>
          <p:cNvPr id="357" name="Google Shape;357;p24"/>
          <p:cNvSpPr/>
          <p:nvPr/>
        </p:nvSpPr>
        <p:spPr>
          <a:xfrm>
            <a:off x="5204686" y="3480416"/>
            <a:ext cx="19176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0.069</a:t>
            </a:r>
            <a:endParaRPr b="0" i="0" sz="1000" u="none" cap="none" strike="noStrike"/>
          </a:p>
        </p:txBody>
      </p:sp>
      <p:sp>
        <p:nvSpPr>
          <p:cNvPr id="358" name="Google Shape;358;p24"/>
          <p:cNvSpPr/>
          <p:nvPr/>
        </p:nvSpPr>
        <p:spPr>
          <a:xfrm>
            <a:off x="6831898" y="3480416"/>
            <a:ext cx="1920000" cy="1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00"/>
              <a:buFont typeface="Arimo"/>
              <a:buNone/>
            </a:pPr>
            <a:r>
              <a:rPr b="0" i="0" lang="en-US" sz="1000" u="none" cap="none" strike="noStrike">
                <a:solidFill>
                  <a:srgbClr val="FF0000"/>
                </a:solidFill>
                <a:latin typeface="Arimo"/>
                <a:ea typeface="Arimo"/>
                <a:cs typeface="Arimo"/>
                <a:sym typeface="Arimo"/>
              </a:rPr>
              <a:t>Дефектна</a:t>
            </a:r>
            <a:endParaRPr b="0" i="0" sz="1000" u="none" cap="none" strike="noStrike"/>
          </a:p>
        </p:txBody>
      </p:sp>
      <p:sp>
        <p:nvSpPr>
          <p:cNvPr id="359" name="Google Shape;359;p24"/>
          <p:cNvSpPr/>
          <p:nvPr/>
        </p:nvSpPr>
        <p:spPr>
          <a:xfrm>
            <a:off x="528045" y="3787386"/>
            <a:ext cx="14550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Syne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Основні результати</a:t>
            </a:r>
            <a:endParaRPr b="0" i="0" sz="1000" u="none" cap="none" strike="noStrike"/>
          </a:p>
        </p:txBody>
      </p:sp>
      <p:sp>
        <p:nvSpPr>
          <p:cNvPr id="360" name="Google Shape;360;p24"/>
          <p:cNvSpPr/>
          <p:nvPr/>
        </p:nvSpPr>
        <p:spPr>
          <a:xfrm>
            <a:off x="499100" y="4003950"/>
            <a:ext cx="4395900" cy="9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Успішне виявлення лінзи у 100% тестових зображень.</a:t>
            </a:r>
            <a:endParaRPr b="0" i="0" sz="1000" u="none" cap="none" strike="noStrike"/>
          </a:p>
          <a:p>
            <a:pPr indent="-3683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Середній час обробки одного зображення ≈ 0,076 с.</a:t>
            </a:r>
            <a:endParaRPr b="0" i="0" sz="1000" u="none" cap="none" strike="noStrike"/>
          </a:p>
          <a:p>
            <a:pPr indent="-3683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Виявлено 408 дефектів на тестовому наборі.</a:t>
            </a:r>
            <a:endParaRPr b="0" i="0" sz="1000" u="none" cap="none" strike="noStrike"/>
          </a:p>
          <a:p>
            <a:pPr indent="-3683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Автоматична класифікація виконана для всіх зображень.</a:t>
            </a:r>
            <a:endParaRPr b="0" i="0" sz="1000" u="none" cap="none" strike="noStrike"/>
          </a:p>
          <a:p>
            <a:pPr indent="-368300" lvl="0" marL="34290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000"/>
              <a:buFont typeface="Arimo"/>
              <a:buChar char="•"/>
            </a:pPr>
            <a:r>
              <a:rPr b="0" i="0" lang="en-US" sz="10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Система демонструє стабільну роботу в режимі реального часу.</a:t>
            </a:r>
            <a:endParaRPr b="0" i="0" sz="1000" u="none" cap="none" strike="noStrike"/>
          </a:p>
        </p:txBody>
      </p:sp>
      <p:sp>
        <p:nvSpPr>
          <p:cNvPr id="361" name="Google Shape;361;p24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25"/>
          <p:cNvSpPr/>
          <p:nvPr/>
        </p:nvSpPr>
        <p:spPr>
          <a:xfrm>
            <a:off x="515392" y="403547"/>
            <a:ext cx="3186113" cy="34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Syne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Аналіз результатів</a:t>
            </a:r>
            <a:endParaRPr b="0" i="0" sz="2100" u="none" cap="none" strike="noStrike"/>
          </a:p>
        </p:txBody>
      </p:sp>
      <p:sp>
        <p:nvSpPr>
          <p:cNvPr id="368" name="Google Shape;368;p25"/>
          <p:cNvSpPr/>
          <p:nvPr/>
        </p:nvSpPr>
        <p:spPr>
          <a:xfrm>
            <a:off x="515392" y="950044"/>
            <a:ext cx="4005263" cy="1861542"/>
          </a:xfrm>
          <a:prstGeom prst="roundRect">
            <a:avLst>
              <a:gd fmla="val 935" name="adj"/>
            </a:avLst>
          </a:prstGeom>
          <a:solidFill>
            <a:srgbClr val="0C0A33"/>
          </a:solidFill>
          <a:ln cap="flat" cmpd="sng" w="1427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25"/>
          <p:cNvSpPr/>
          <p:nvPr/>
        </p:nvSpPr>
        <p:spPr>
          <a:xfrm>
            <a:off x="645616" y="1080269"/>
            <a:ext cx="1737717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yne"/>
              <a:buNone/>
            </a:pPr>
            <a:r>
              <a:rPr b="1" i="0" lang="en-US" sz="10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Загальний результат</a:t>
            </a:r>
            <a:endParaRPr b="0" i="0" sz="1050" u="none" cap="none" strike="noStrike"/>
          </a:p>
        </p:txBody>
      </p:sp>
      <p:sp>
        <p:nvSpPr>
          <p:cNvPr id="370" name="Google Shape;370;p25"/>
          <p:cNvSpPr/>
          <p:nvPr/>
        </p:nvSpPr>
        <p:spPr>
          <a:xfrm>
            <a:off x="645616" y="1312441"/>
            <a:ext cx="3744813" cy="13689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Створено програмну систему автоматизованого контролю якості лінз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Реалізовано повний цикл: завантаження → обробка → аналіз → класифікація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Система працює у </a:t>
            </a:r>
            <a:r>
              <a:rPr b="1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ручному та автоматичному</a:t>
            </a: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режимах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Забезпечено безперервний моніторинг директорії (24/7)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Автоматичне сортування у папки: </a:t>
            </a:r>
            <a:r>
              <a:rPr b="1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defects / processed</a:t>
            </a:r>
            <a:endParaRPr b="0" i="0" sz="900" u="none" cap="none" strike="noStrike"/>
          </a:p>
        </p:txBody>
      </p:sp>
      <p:sp>
        <p:nvSpPr>
          <p:cNvPr id="371" name="Google Shape;371;p25"/>
          <p:cNvSpPr/>
          <p:nvPr/>
        </p:nvSpPr>
        <p:spPr>
          <a:xfrm>
            <a:off x="4623346" y="950044"/>
            <a:ext cx="4005263" cy="1861542"/>
          </a:xfrm>
          <a:prstGeom prst="roundRect">
            <a:avLst>
              <a:gd fmla="val 935" name="adj"/>
            </a:avLst>
          </a:prstGeom>
          <a:solidFill>
            <a:srgbClr val="0C0A33"/>
          </a:solidFill>
          <a:ln cap="flat" cmpd="sng" w="1427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5"/>
          <p:cNvSpPr/>
          <p:nvPr/>
        </p:nvSpPr>
        <p:spPr>
          <a:xfrm>
            <a:off x="4753570" y="1080269"/>
            <a:ext cx="2456557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yne"/>
              <a:buNone/>
            </a:pPr>
            <a:r>
              <a:rPr b="1" i="0" lang="en-US" sz="10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Технічні результати алгоритму</a:t>
            </a:r>
            <a:endParaRPr b="0" i="0" sz="1050" u="none" cap="none" strike="noStrike"/>
          </a:p>
        </p:txBody>
      </p:sp>
      <p:sp>
        <p:nvSpPr>
          <p:cNvPr id="373" name="Google Shape;373;p25"/>
          <p:cNvSpPr/>
          <p:nvPr/>
        </p:nvSpPr>
        <p:spPr>
          <a:xfrm>
            <a:off x="4753570" y="1312441"/>
            <a:ext cx="3744813" cy="10188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Стабільне виявлення меж лінзи (</a:t>
            </a:r>
            <a:r>
              <a:rPr b="1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еліптична апроксимація</a:t>
            </a: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)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Детекція дефектів: подряпини, плями, локальні аномалії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Застосовано: CLAHE, Canny, Gaussian Blur, HoughLinesP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Фільтрація дублюючих дефектів, зменшення хибних спрацювань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Стійкість до шуму та змінних умов освітлення</a:t>
            </a:r>
            <a:endParaRPr b="0" i="0" sz="900" u="none" cap="none" strike="noStrike"/>
          </a:p>
        </p:txBody>
      </p:sp>
      <p:sp>
        <p:nvSpPr>
          <p:cNvPr id="374" name="Google Shape;374;p25"/>
          <p:cNvSpPr/>
          <p:nvPr/>
        </p:nvSpPr>
        <p:spPr>
          <a:xfrm>
            <a:off x="515392" y="2914278"/>
            <a:ext cx="4005263" cy="1825600"/>
          </a:xfrm>
          <a:prstGeom prst="roundRect">
            <a:avLst>
              <a:gd fmla="val 953" name="adj"/>
            </a:avLst>
          </a:prstGeom>
          <a:solidFill>
            <a:srgbClr val="0C0A33"/>
          </a:solidFill>
          <a:ln cap="flat" cmpd="sng" w="1427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25"/>
          <p:cNvSpPr/>
          <p:nvPr/>
        </p:nvSpPr>
        <p:spPr>
          <a:xfrm>
            <a:off x="645616" y="3044503"/>
            <a:ext cx="2125042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yne"/>
              <a:buNone/>
            </a:pPr>
            <a:r>
              <a:rPr b="1" i="0" lang="en-US" sz="10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Функціональні результати</a:t>
            </a:r>
            <a:endParaRPr b="0" i="0" sz="1050" u="none" cap="none" strike="noStrike"/>
          </a:p>
        </p:txBody>
      </p:sp>
      <p:sp>
        <p:nvSpPr>
          <p:cNvPr id="376" name="Google Shape;376;p25"/>
          <p:cNvSpPr/>
          <p:nvPr/>
        </p:nvSpPr>
        <p:spPr>
          <a:xfrm>
            <a:off x="645616" y="3276674"/>
            <a:ext cx="3744813" cy="1193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Завантаження PNG, JPG, JPEG, BMP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Автоматичний аналіз нових файлів у директорії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Формування </a:t>
            </a:r>
            <a:r>
              <a:rPr b="1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PDF-звітів</a:t>
            </a: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з результатами аналізу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Відображення оригіналу, оброблених зображень та результатів детекції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Індикація статусу: </a:t>
            </a:r>
            <a:r>
              <a:rPr b="1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OK / DEFECT</a:t>
            </a: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у режимі реального часу</a:t>
            </a:r>
            <a:endParaRPr b="0" i="0" sz="900" u="none" cap="none" strike="noStrike"/>
          </a:p>
        </p:txBody>
      </p:sp>
      <p:sp>
        <p:nvSpPr>
          <p:cNvPr id="377" name="Google Shape;377;p25"/>
          <p:cNvSpPr/>
          <p:nvPr/>
        </p:nvSpPr>
        <p:spPr>
          <a:xfrm>
            <a:off x="4623346" y="2914278"/>
            <a:ext cx="4005263" cy="1825600"/>
          </a:xfrm>
          <a:prstGeom prst="roundRect">
            <a:avLst>
              <a:gd fmla="val 953" name="adj"/>
            </a:avLst>
          </a:prstGeom>
          <a:solidFill>
            <a:srgbClr val="0C0A33"/>
          </a:solidFill>
          <a:ln cap="flat" cmpd="sng" w="14275">
            <a:solidFill>
              <a:srgbClr val="44426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5"/>
          <p:cNvSpPr/>
          <p:nvPr/>
        </p:nvSpPr>
        <p:spPr>
          <a:xfrm>
            <a:off x="4753570" y="3044503"/>
            <a:ext cx="1613297" cy="1705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Syne"/>
              <a:buNone/>
            </a:pPr>
            <a:r>
              <a:rPr b="1" i="0" lang="en-US" sz="10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Практична цінність</a:t>
            </a:r>
            <a:endParaRPr b="0" i="0" sz="1050" u="none" cap="none" strike="noStrike"/>
          </a:p>
        </p:txBody>
      </p:sp>
      <p:sp>
        <p:nvSpPr>
          <p:cNvPr id="379" name="Google Shape;379;p25"/>
          <p:cNvSpPr/>
          <p:nvPr/>
        </p:nvSpPr>
        <p:spPr>
          <a:xfrm>
            <a:off x="4753570" y="3276674"/>
            <a:ext cx="3744813" cy="1332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Підходить для промислового контролю якості малих і середніх виробництв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Зменшує вплив людського фактора, підвищує швидкість перевірки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Безперервна робота 24/7 без участі оператора</a:t>
            </a:r>
            <a:endParaRPr b="0" i="0" sz="900" u="none" cap="none" strike="noStrike"/>
          </a:p>
          <a:p>
            <a:pPr indent="-342900" lvl="0" marL="34290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00"/>
              <a:buFont typeface="Arimo"/>
              <a:buChar char="•"/>
            </a:pPr>
            <a:r>
              <a:rPr b="0" i="0" lang="en-US" sz="9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Потенціал розширення: AI/ML моделі, відеопотоки, база даних результатів</a:t>
            </a:r>
            <a:endParaRPr b="0" i="0" sz="900" u="none" cap="none" strike="noStrike"/>
          </a:p>
        </p:txBody>
      </p:sp>
      <p:sp>
        <p:nvSpPr>
          <p:cNvPr id="380" name="Google Shape;380;p25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6"/>
          <p:cNvSpPr/>
          <p:nvPr/>
        </p:nvSpPr>
        <p:spPr>
          <a:xfrm>
            <a:off x="523577" y="612279"/>
            <a:ext cx="2921347" cy="307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yne"/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Syne"/>
                <a:ea typeface="Syne"/>
                <a:cs typeface="Syne"/>
                <a:sym typeface="Syne"/>
              </a:rPr>
              <a:t>Висновки</a:t>
            </a:r>
            <a:endParaRPr b="0" i="0" sz="1900" u="none" cap="none" strike="noStrike"/>
          </a:p>
        </p:txBody>
      </p:sp>
      <p:sp>
        <p:nvSpPr>
          <p:cNvPr id="387" name="Google Shape;387;p26"/>
          <p:cNvSpPr/>
          <p:nvPr/>
        </p:nvSpPr>
        <p:spPr>
          <a:xfrm>
            <a:off x="523577" y="1140023"/>
            <a:ext cx="235595" cy="235595"/>
          </a:xfrm>
          <a:prstGeom prst="roundRect">
            <a:avLst>
              <a:gd fmla="val 666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6"/>
          <p:cNvSpPr/>
          <p:nvPr/>
        </p:nvSpPr>
        <p:spPr>
          <a:xfrm>
            <a:off x="567432" y="1160599"/>
            <a:ext cx="1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Syne"/>
              <a:buNone/>
            </a:pPr>
            <a:r>
              <a:rPr b="1" i="0" lang="en-US" sz="11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b="0" i="0" sz="1150" u="none" cap="none" strike="noStrike"/>
          </a:p>
        </p:txBody>
      </p:sp>
      <p:sp>
        <p:nvSpPr>
          <p:cNvPr id="389" name="Google Shape;389;p26"/>
          <p:cNvSpPr/>
          <p:nvPr/>
        </p:nvSpPr>
        <p:spPr>
          <a:xfrm>
            <a:off x="842888" y="1175965"/>
            <a:ext cx="1612776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Досягнення мети роботи</a:t>
            </a:r>
            <a:endParaRPr b="0" i="0" sz="950" u="none" cap="none" strike="noStrike"/>
          </a:p>
        </p:txBody>
      </p:sp>
      <p:sp>
        <p:nvSpPr>
          <p:cNvPr id="390" name="Google Shape;390;p26"/>
          <p:cNvSpPr/>
          <p:nvPr/>
        </p:nvSpPr>
        <p:spPr>
          <a:xfrm>
            <a:off x="842888" y="1413718"/>
            <a:ext cx="3601343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Повністю реалізовано програмну систему автоматизованого контролю якості оптичних лінз. Система виконує аналіз зображень без участі оператора. Мету автоматизації первинного контролю якості досягнуто.</a:t>
            </a:r>
            <a:endParaRPr b="0" i="0" sz="800" u="none" cap="none" strike="noStrike"/>
          </a:p>
        </p:txBody>
      </p:sp>
      <p:sp>
        <p:nvSpPr>
          <p:cNvPr id="391" name="Google Shape;391;p26"/>
          <p:cNvSpPr/>
          <p:nvPr/>
        </p:nvSpPr>
        <p:spPr>
          <a:xfrm>
            <a:off x="523577" y="2033513"/>
            <a:ext cx="235595" cy="235595"/>
          </a:xfrm>
          <a:prstGeom prst="roundRect">
            <a:avLst>
              <a:gd fmla="val 666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26"/>
          <p:cNvSpPr/>
          <p:nvPr/>
        </p:nvSpPr>
        <p:spPr>
          <a:xfrm>
            <a:off x="567532" y="2054088"/>
            <a:ext cx="1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Syne"/>
              <a:buNone/>
            </a:pPr>
            <a:r>
              <a:rPr b="1" i="0" lang="en-US" sz="11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b="0" i="0" sz="1150" u="none" cap="none" strike="noStrike"/>
          </a:p>
        </p:txBody>
      </p:sp>
      <p:sp>
        <p:nvSpPr>
          <p:cNvPr id="393" name="Google Shape;393;p26"/>
          <p:cNvSpPr/>
          <p:nvPr/>
        </p:nvSpPr>
        <p:spPr>
          <a:xfrm>
            <a:off x="842888" y="2069455"/>
            <a:ext cx="1688678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Реалізований функціонал</a:t>
            </a:r>
            <a:endParaRPr b="0" i="0" sz="950" u="none" cap="none" strike="noStrike"/>
          </a:p>
        </p:txBody>
      </p:sp>
      <p:sp>
        <p:nvSpPr>
          <p:cNvPr id="394" name="Google Shape;394;p26"/>
          <p:cNvSpPr/>
          <p:nvPr/>
        </p:nvSpPr>
        <p:spPr>
          <a:xfrm>
            <a:off x="842888" y="2307208"/>
            <a:ext cx="3601343" cy="6030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Завантаження та обробка PNG/JPG/BMP; виявлення лінзи та побудова геометричної моделі; детекція дефектів (подряпини, плями, аномалії); класифікація «придатний / дефектний»; автомоніторинг 24/7; формування PDF-звітів.</a:t>
            </a:r>
            <a:endParaRPr b="0" i="0" sz="800" u="none" cap="none" strike="noStrike"/>
          </a:p>
        </p:txBody>
      </p:sp>
      <p:sp>
        <p:nvSpPr>
          <p:cNvPr id="395" name="Google Shape;395;p26"/>
          <p:cNvSpPr/>
          <p:nvPr/>
        </p:nvSpPr>
        <p:spPr>
          <a:xfrm>
            <a:off x="523577" y="3077766"/>
            <a:ext cx="235595" cy="235595"/>
          </a:xfrm>
          <a:prstGeom prst="roundRect">
            <a:avLst>
              <a:gd fmla="val 666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26"/>
          <p:cNvSpPr/>
          <p:nvPr/>
        </p:nvSpPr>
        <p:spPr>
          <a:xfrm>
            <a:off x="567432" y="3077766"/>
            <a:ext cx="1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Syne"/>
              <a:buNone/>
            </a:pPr>
            <a:r>
              <a:rPr b="1" i="0" lang="en-US" sz="11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3</a:t>
            </a:r>
            <a:endParaRPr b="0" i="0" sz="1150" u="none" cap="none" strike="noStrike"/>
          </a:p>
        </p:txBody>
      </p:sp>
      <p:sp>
        <p:nvSpPr>
          <p:cNvPr id="397" name="Google Shape;397;p26"/>
          <p:cNvSpPr/>
          <p:nvPr/>
        </p:nvSpPr>
        <p:spPr>
          <a:xfrm>
            <a:off x="842888" y="3113708"/>
            <a:ext cx="1356345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Технології та методи</a:t>
            </a:r>
            <a:endParaRPr b="0" i="0" sz="950" u="none" cap="none" strike="noStrike"/>
          </a:p>
        </p:txBody>
      </p:sp>
      <p:sp>
        <p:nvSpPr>
          <p:cNvPr id="398" name="Google Shape;398;p26"/>
          <p:cNvSpPr/>
          <p:nvPr/>
        </p:nvSpPr>
        <p:spPr>
          <a:xfrm>
            <a:off x="842888" y="3351461"/>
            <a:ext cx="3601343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Python, OpenCV, NumPy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обробка зображень та комп'ютерний зір;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CLAHE, Canny, HoughLinesP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детекція;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еліптична апроксимація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геометрія;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PySide6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GUI;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ReportLab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— звітність.</a:t>
            </a:r>
            <a:endParaRPr b="0" i="0" sz="800" u="none" cap="none" strike="noStrike"/>
          </a:p>
        </p:txBody>
      </p:sp>
      <p:sp>
        <p:nvSpPr>
          <p:cNvPr id="399" name="Google Shape;399;p26"/>
          <p:cNvSpPr/>
          <p:nvPr/>
        </p:nvSpPr>
        <p:spPr>
          <a:xfrm>
            <a:off x="4704531" y="1140023"/>
            <a:ext cx="235595" cy="235595"/>
          </a:xfrm>
          <a:prstGeom prst="roundRect">
            <a:avLst>
              <a:gd fmla="val 666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6"/>
          <p:cNvSpPr/>
          <p:nvPr/>
        </p:nvSpPr>
        <p:spPr>
          <a:xfrm>
            <a:off x="4748386" y="1160599"/>
            <a:ext cx="1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Syne"/>
              <a:buNone/>
            </a:pPr>
            <a:r>
              <a:rPr b="1" i="0" lang="en-US" sz="11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1</a:t>
            </a:r>
            <a:endParaRPr b="0" i="0" sz="1150" u="none" cap="none" strike="noStrike"/>
          </a:p>
        </p:txBody>
      </p:sp>
      <p:sp>
        <p:nvSpPr>
          <p:cNvPr id="401" name="Google Shape;401;p26"/>
          <p:cNvSpPr/>
          <p:nvPr/>
        </p:nvSpPr>
        <p:spPr>
          <a:xfrm>
            <a:off x="5023842" y="1175965"/>
            <a:ext cx="1288926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Основні результати</a:t>
            </a:r>
            <a:endParaRPr b="0" i="0" sz="950" u="none" cap="none" strike="noStrike"/>
          </a:p>
        </p:txBody>
      </p:sp>
      <p:sp>
        <p:nvSpPr>
          <p:cNvPr id="402" name="Google Shape;402;p26"/>
          <p:cNvSpPr/>
          <p:nvPr/>
        </p:nvSpPr>
        <p:spPr>
          <a:xfrm>
            <a:off x="5023842" y="1413718"/>
            <a:ext cx="3601343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Створено стабільну систему аналізу зображень у реальному часі. Зменшено вплив людського фактора. Забезпечено автоматичне сортування та наочну візуалізацію результатів для оператора.</a:t>
            </a:r>
            <a:endParaRPr b="0" i="0" sz="800" u="none" cap="none" strike="noStrike"/>
          </a:p>
        </p:txBody>
      </p:sp>
      <p:sp>
        <p:nvSpPr>
          <p:cNvPr id="403" name="Google Shape;403;p26"/>
          <p:cNvSpPr/>
          <p:nvPr/>
        </p:nvSpPr>
        <p:spPr>
          <a:xfrm>
            <a:off x="4704531" y="2033513"/>
            <a:ext cx="235595" cy="235595"/>
          </a:xfrm>
          <a:prstGeom prst="roundRect">
            <a:avLst>
              <a:gd fmla="val 666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6"/>
          <p:cNvSpPr/>
          <p:nvPr/>
        </p:nvSpPr>
        <p:spPr>
          <a:xfrm>
            <a:off x="4748436" y="2043813"/>
            <a:ext cx="1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Syne"/>
              <a:buNone/>
            </a:pPr>
            <a:r>
              <a:rPr b="1" i="0" lang="en-US" sz="11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2</a:t>
            </a:r>
            <a:endParaRPr b="0" i="0" sz="1150" u="none" cap="none" strike="noStrike"/>
          </a:p>
        </p:txBody>
      </p:sp>
      <p:sp>
        <p:nvSpPr>
          <p:cNvPr id="405" name="Google Shape;405;p26"/>
          <p:cNvSpPr/>
          <p:nvPr/>
        </p:nvSpPr>
        <p:spPr>
          <a:xfrm>
            <a:off x="5023842" y="2069455"/>
            <a:ext cx="1273597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Практична цінність</a:t>
            </a:r>
            <a:endParaRPr b="0" i="0" sz="950" u="none" cap="none" strike="noStrike"/>
          </a:p>
        </p:txBody>
      </p:sp>
      <p:sp>
        <p:nvSpPr>
          <p:cNvPr id="406" name="Google Shape;406;p26"/>
          <p:cNvSpPr/>
          <p:nvPr/>
        </p:nvSpPr>
        <p:spPr>
          <a:xfrm>
            <a:off x="5023842" y="2307208"/>
            <a:ext cx="3601343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Система придатна для виробничих підприємств, лабораторій контролю якості та навчальних цілей. Може бути інтегрована у автоматизовані виробничі лінії Industry 4.0, знижує витрати на ручний контроль.</a:t>
            </a:r>
            <a:endParaRPr b="0" i="0" sz="800" u="none" cap="none" strike="noStrike"/>
          </a:p>
        </p:txBody>
      </p:sp>
      <p:sp>
        <p:nvSpPr>
          <p:cNvPr id="407" name="Google Shape;407;p26"/>
          <p:cNvSpPr/>
          <p:nvPr/>
        </p:nvSpPr>
        <p:spPr>
          <a:xfrm>
            <a:off x="4704531" y="2927003"/>
            <a:ext cx="235595" cy="235595"/>
          </a:xfrm>
          <a:prstGeom prst="roundRect">
            <a:avLst>
              <a:gd fmla="val 6668" name="adj"/>
            </a:avLst>
          </a:prstGeom>
          <a:solidFill>
            <a:srgbClr val="2B295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4748386" y="2926990"/>
            <a:ext cx="14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1150"/>
              <a:buFont typeface="Syne"/>
              <a:buNone/>
            </a:pPr>
            <a:r>
              <a:rPr b="1" i="0" lang="en-US" sz="11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3</a:t>
            </a:r>
            <a:endParaRPr b="0" i="0" sz="1150" u="none" cap="none" strike="noStrike"/>
          </a:p>
        </p:txBody>
      </p:sp>
      <p:sp>
        <p:nvSpPr>
          <p:cNvPr id="409" name="Google Shape;409;p26"/>
          <p:cNvSpPr/>
          <p:nvPr/>
        </p:nvSpPr>
        <p:spPr>
          <a:xfrm>
            <a:off x="5023842" y="2962945"/>
            <a:ext cx="1490960" cy="154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950"/>
              <a:buFont typeface="Syne"/>
              <a:buNone/>
            </a:pPr>
            <a:r>
              <a:rPr b="1" i="0" lang="en-US" sz="950" u="none" cap="none" strike="noStrike">
                <a:solidFill>
                  <a:srgbClr val="D9E1FF"/>
                </a:solidFill>
                <a:latin typeface="Syne"/>
                <a:ea typeface="Syne"/>
                <a:cs typeface="Syne"/>
                <a:sym typeface="Syne"/>
              </a:rPr>
              <a:t>Перспективи розвитку</a:t>
            </a:r>
            <a:endParaRPr b="0" i="0" sz="950" u="none" cap="none" strike="noStrike"/>
          </a:p>
        </p:txBody>
      </p:sp>
      <p:sp>
        <p:nvSpPr>
          <p:cNvPr id="410" name="Google Shape;410;p26"/>
          <p:cNvSpPr/>
          <p:nvPr/>
        </p:nvSpPr>
        <p:spPr>
          <a:xfrm>
            <a:off x="5023842" y="3200698"/>
            <a:ext cx="3601343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9E1FF"/>
              </a:buClr>
              <a:buSzPts val="800"/>
              <a:buFont typeface="Arimo"/>
              <a:buNone/>
            </a:pP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Впровадження </a:t>
            </a:r>
            <a:r>
              <a:rPr b="1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машинного навчання</a:t>
            </a:r>
            <a:r>
              <a:rPr b="0" i="0" lang="en-US" sz="800" u="none" cap="none" strike="noStrike">
                <a:solidFill>
                  <a:srgbClr val="D9E1FF"/>
                </a:solidFill>
                <a:latin typeface="Arimo"/>
                <a:ea typeface="Arimo"/>
                <a:cs typeface="Arimo"/>
                <a:sym typeface="Arimo"/>
              </a:rPr>
              <a:t> для класифікації дефектів; інтеграція з промисловими камерами та відеопотоком; розширення бази даних результатів; оптимізація для масштабованих виробничих систем.</a:t>
            </a:r>
            <a:endParaRPr b="0" i="0" sz="800" u="none" cap="none" strike="noStrike"/>
          </a:p>
        </p:txBody>
      </p:sp>
      <p:sp>
        <p:nvSpPr>
          <p:cNvPr id="411" name="Google Shape;411;p26"/>
          <p:cNvSpPr/>
          <p:nvPr/>
        </p:nvSpPr>
        <p:spPr>
          <a:xfrm>
            <a:off x="4704531" y="3747195"/>
            <a:ext cx="3920654" cy="689818"/>
          </a:xfrm>
          <a:prstGeom prst="roundRect">
            <a:avLst>
              <a:gd fmla="val 2277" name="adj"/>
            </a:avLst>
          </a:prstGeom>
          <a:solidFill>
            <a:srgbClr val="183A1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2" name="Google Shape;41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9232" y="3895874"/>
            <a:ext cx="130894" cy="10470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26"/>
          <p:cNvSpPr/>
          <p:nvPr/>
        </p:nvSpPr>
        <p:spPr>
          <a:xfrm>
            <a:off x="5044827" y="3857030"/>
            <a:ext cx="3475658" cy="4522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Arimo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Підсумок:</a:t>
            </a:r>
            <a:r>
              <a:rPr b="0" i="0" lang="en-US" sz="800" u="none" cap="none" strike="noStrik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Програмна система повністю відповідає поставленим вимогам і може бути використана як основа для промислового рішення автоматизованого контролю якості оптичних виробів.</a:t>
            </a:r>
            <a:endParaRPr b="0" i="0" sz="800" u="none" cap="none" strike="noStrike"/>
          </a:p>
        </p:txBody>
      </p:sp>
      <p:sp>
        <p:nvSpPr>
          <p:cNvPr id="414" name="Google Shape;414;p26"/>
          <p:cNvSpPr/>
          <p:nvPr/>
        </p:nvSpPr>
        <p:spPr>
          <a:xfrm flipH="1">
            <a:off x="8227175" y="4229100"/>
            <a:ext cx="914400" cy="914400"/>
          </a:xfrm>
          <a:prstGeom prst="rtTriangl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endParaRPr b="1"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